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78c1404b6c428f" /><Relationship Type="http://schemas.openxmlformats.org/officeDocument/2006/relationships/extended-properties" Target="/docProps/app.xml" Id="R490266cb823f473e" /><Relationship Type="http://schemas.openxmlformats.org/officeDocument/2006/relationships/officeDocument" Target="/ppt/presentation.xml" Id="R9f81d1060f494c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30a195e0a14a22"/>
  </p:sldMasterIdLst>
  <p:notesMasterIdLst>
    <p:notesMasterId xmlns:r="http://schemas.openxmlformats.org/officeDocument/2006/relationships" r:id="Rb16b4769b64543a7"/>
  </p:notesMasterIdLst>
  <p:sldIdLst>
    <p:sldId xmlns:r="http://schemas.openxmlformats.org/officeDocument/2006/relationships" id="256" r:id="Rec711bed4bdb4c99"/>
    <p:sldId xmlns:r="http://schemas.openxmlformats.org/officeDocument/2006/relationships" id="257" r:id="R36483a6b024f4ef3"/>
    <p:sldId xmlns:r="http://schemas.openxmlformats.org/officeDocument/2006/relationships" id="258" r:id="Rde2e7efac26b45d0"/>
    <p:sldId xmlns:r="http://schemas.openxmlformats.org/officeDocument/2006/relationships" id="259" r:id="R073b275880fd4345"/>
    <p:sldId xmlns:r="http://schemas.openxmlformats.org/officeDocument/2006/relationships" id="260" r:id="Rdd158b46178b4e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d3c00acfc4b2f" /><Relationship Type="http://schemas.openxmlformats.org/officeDocument/2006/relationships/slideMaster" Target="/ppt/slideMasters/slideMaster1.xml" Id="Re030a195e0a14a22" /><Relationship Type="http://schemas.openxmlformats.org/officeDocument/2006/relationships/notesMaster" Target="/ppt/notesMasters/notesMaster1.xml" Id="Rb16b4769b64543a7" /><Relationship Type="http://schemas.openxmlformats.org/officeDocument/2006/relationships/presProps" Target="/ppt/presProps.xml" Id="R298ad3c3cc654cc6" /><Relationship Type="http://schemas.openxmlformats.org/officeDocument/2006/relationships/tableStyles" Target="/ppt/tableStyles.xml" Id="Raee1cc780c5543a9" /><Relationship Type="http://schemas.openxmlformats.org/officeDocument/2006/relationships/slide" Target="/ppt/slides/slide1.xml" Id="Rec711bed4bdb4c99" /><Relationship Type="http://schemas.openxmlformats.org/officeDocument/2006/relationships/slide" Target="/ppt/slides/slide2.xml" Id="R36483a6b024f4ef3" /><Relationship Type="http://schemas.openxmlformats.org/officeDocument/2006/relationships/slide" Target="/ppt/slides/slide3.xml" Id="Rde2e7efac26b45d0" /><Relationship Type="http://schemas.openxmlformats.org/officeDocument/2006/relationships/slide" Target="/ppt/slides/slide4.xml" Id="R073b275880fd4345" /><Relationship Type="http://schemas.openxmlformats.org/officeDocument/2006/relationships/slide" Target="/ppt/slides/slide5.xml" Id="Rdd158b46178b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585c59b880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376dcee350430b" /><Relationship Type="http://schemas.openxmlformats.org/officeDocument/2006/relationships/notesMaster" Target="/ppt/notesMasters/notesMaster1.xml" Id="R8646f4be95ec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c1f6ee5d8546d0" /><Relationship Type="http://schemas.openxmlformats.org/officeDocument/2006/relationships/notesMaster" Target="/ppt/notesMasters/notesMaster1.xml" Id="R28632430fcdc4d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6901e38bbb4c32" /><Relationship Type="http://schemas.openxmlformats.org/officeDocument/2006/relationships/notesMaster" Target="/ppt/notesMasters/notesMaster1.xml" Id="Rdff5ba0c1b204e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d54f1939147f7" /><Relationship Type="http://schemas.openxmlformats.org/officeDocument/2006/relationships/notesMaster" Target="/ppt/notesMasters/notesMaster1.xml" Id="Rb808fdd7a3774b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0f53044441457d" /><Relationship Type="http://schemas.openxmlformats.org/officeDocument/2006/relationships/notesMaster" Target="/ppt/notesMasters/notesMaster1.xml" Id="R629fca87bd3c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problem: solar users and solar businesses have data but not coordinated action.</a:t>
            </a:r>
          </a:p>
          <a:p xmlns:a="http://schemas.openxmlformats.org/drawingml/2006/main">
            <a:r>
              <a:t>Position Solaris as an Agentic AI operations assistant, not a dashboard and not a chatbot.</a:t>
            </a:r>
          </a:p>
          <a:p xmlns:a="http://schemas.openxmlformats.org/drawingml/2006/main">
            <a:r>
              <a:t>Transition: the next slide shows exactly what makes it agentic.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define agentic AI in the demo.</a:t>
            </a:r>
          </a:p>
          <a:p xmlns:a="http://schemas.openxmlformats.org/drawingml/2006/main">
            <a:r>
              <a:t>Emphasize the approval gate: Solaris does not silently take external actions.</a:t>
            </a:r>
          </a:p>
          <a:p xmlns:a="http://schemas.openxmlformats.org/drawingml/2006/main">
            <a:r>
              <a:t>Transition: now show where this appears in the working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live demo tight: dashboard, AI Agents, Mission Control, approval.</a:t>
            </a:r>
          </a:p>
          <a:p xmlns:a="http://schemas.openxmlformats.org/drawingml/2006/main">
            <a:r>
              <a:t>Do not show every tab. The goal is to prove the workflow.</a:t>
            </a:r>
          </a:p>
          <a:p xmlns:a="http://schemas.openxmlformats.org/drawingml/2006/main">
            <a:r>
              <a:t>Transition: show the technical architecture behind the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OpenAI role clear: reasoning, tool selection, report generation, user interaction.</a:t>
            </a:r>
          </a:p>
          <a:p xmlns:a="http://schemas.openxmlformats.org/drawingml/2006/main">
            <a:r>
              <a:t>Make technical excellence clear: authentication, customer separation, event logs, explicit endpoints, opt-in channels.</a:t>
            </a:r>
          </a:p>
          <a:p xmlns:a="http://schemas.openxmlformats.org/drawingml/2006/main">
            <a:r>
              <a:t>Transition: close with measurable business value and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in 20 seconds: Solaris turns solar customer operations from manual follow-up into agentic orchestration.</a:t>
            </a:r>
          </a:p>
          <a:p xmlns:a="http://schemas.openxmlformats.org/drawingml/2006/main">
            <a:r>
              <a:t>It detects issues faster, improves decisions, and scales the same workflow across customers, sites, service teams, and integrations.</a:t>
            </a:r>
          </a:p>
          <a:p xmlns:a="http://schemas.openxmlformats.org/drawingml/2006/main">
            <a:r>
              <a:t>Final line: Solaris is not a chatbot; it is an Agentic AI orchestration layer for solar customer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e56f19cc744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d2a0f9ffa6414e" /><Relationship Type="http://schemas.openxmlformats.org/officeDocument/2006/relationships/slideLayout" Target="/ppt/slideLayouts/slideLayout1.xml" Id="Rdfe3173538a44d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e3173538a44d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53f4c72e24f10" /><Relationship Type="http://schemas.openxmlformats.org/officeDocument/2006/relationships/notesSlide" Target="/ppt/notesSlides/notesSlide1.xml" Id="Raf500fe7539641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d85ac6b8543cb" /><Relationship Type="http://schemas.openxmlformats.org/officeDocument/2006/relationships/notesSlide" Target="/ppt/notesSlides/notesSlide2.xml" Id="R99757dbaa21e4c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577d5adc948c9" /><Relationship Type="http://schemas.openxmlformats.org/officeDocument/2006/relationships/notesSlide" Target="/ppt/notesSlides/notesSlide3.xml" Id="Rcf46d3be8a9f48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92755a08349a7" /><Relationship Type="http://schemas.openxmlformats.org/officeDocument/2006/relationships/notesSlide" Target="/ppt/notesSlides/notesSlide4.xml" Id="R26cebdd93c7b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c8a34952e4006" /><Relationship Type="http://schemas.openxmlformats.org/officeDocument/2006/relationships/notesSlide" Target="/ppt/notesSlides/notesSlide5.xml" Id="R35f7a2b841e949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D35E7-8B1F-42AA-9A38-E92BBBF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220"/>
                </a:solidFill>
              </a:defRPr>
            </a:pPr>
            <a:r>
              <a:rPr sz="4350" b="1">
                <a:solidFill>
                  <a:srgbClr val="0B1220"/>
                </a:solidFill>
              </a:rPr>
              <a:t>Solaris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AECC9-092F-43FF-98AF-87340627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A52"/>
                </a:solidFill>
              </a:defRPr>
            </a:pPr>
            <a:r>
              <a:rPr sz="1875" b="1">
                <a:solidFill>
                  <a:srgbClr val="168A52"/>
                </a:solidFill>
              </a:rPr>
              <a:t>Agentic AI for solar customer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A97E6-9335-4691-B679-3564771F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220"/>
                </a:solidFill>
              </a:defRPr>
            </a:pPr>
            <a:r>
              <a:rPr sz="1875" b="0">
                <a:solidFill>
                  <a:srgbClr val="0B1220"/>
                </a:solidFill>
              </a:rPr>
              <a:t>Turns passive solar monitoring into an orchestrated workflow that observes, reasons, asks approval, acts, verifies, and learns.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8BC91-8B2E-4A61-9E7B-25E4AB42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733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E62A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031E5-758C-4D0B-A43C-078E9105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62A2"/>
                </a:solidFill>
              </a:defRPr>
            </a:pPr>
            <a:r>
              <a:rPr sz="975" b="1">
                <a:solidFill>
                  <a:srgbClr val="1E62A2"/>
                </a:solidFill>
              </a:rPr>
              <a:t>Energy sector | Solar customer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41873-5C06-4DB7-AC0A-93DFD506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2743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68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6D086-7F35-4B5A-A15F-D3D78E2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52"/>
                </a:solidFill>
              </a:defRPr>
            </a:pPr>
            <a:r>
              <a:rPr sz="975" b="1">
                <a:solidFill>
                  <a:srgbClr val="168A52"/>
                </a:solidFill>
              </a:rPr>
              <a:t>Not a chatbot: orchestrates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BE94B-8324-40B5-A8DB-4CFCF22B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8650"/>
            <a:ext cx="4000500" cy="48387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DDE4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8C34F-1342-4E10-8D9D-B525EDB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52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Real operational pain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5FC23-3DD7-4CDA-8DDF-0A3A811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90650"/>
            <a:ext cx="32766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853AC-A552-41BB-B417-53D1155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430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Scattered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895D8-6B61-4821-9C24-392A8F4C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Generation, appliances, cleaning, tickets, bill, and alerts live in separate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5F821-B573-457D-9844-B908267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32766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4200E-1BCC-4992-A0F4-EACFE2D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955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Slow service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5C4A0-30DF-4284-82A3-8B011269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Underproduction evidence is found late and service follow-up is manual.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541D6-59D4-474F-8336-D76CDEA7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95650"/>
            <a:ext cx="32766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08589-6488-419D-A90F-8ADC0369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480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Low customer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C27B8-92EE-4E65-AA4A-70EFAD28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Users see data, but not a recommended action with clear reasoning.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5ECE5-3D61-4FEB-9265-611E4F66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8150"/>
            <a:ext cx="32766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C760B-82B7-403C-9E4C-6852741D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Hard to 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51448-8F8D-4F95-8ECE-58A996B9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Solar businesses need repeatable workflows across thousands of customer sites.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46F22-0D1A-4243-9AA4-6059AC8F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479371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A68ED-D19C-4BF3-A4DC-0298BE1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AGENTIC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AB107-A5DF-401E-8E80-A1179142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Solaris coordinates decisions through an observable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494F4-97A3-4576-BF07-E5C8C7E4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6A287-1BF6-4904-B66A-D28CB78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41EC9-B27E-4EA5-9709-20C4F13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2954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8A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BAB92-DD89-4776-8F6A-BADF6AC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9D3BB-942B-4759-BB9B-7504201E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Solar, load, appliance, bill, ticket, weather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FEF6A-2FD8-450F-A477-701EC80D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03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B4D32-7B66-4841-ADCE-EB1BD6E9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43100"/>
            <a:ext cx="12954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13335">
            <a:solidFill>
              <a:srgbClr val="168A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CA0D6-562E-46FA-96FF-0E5E169F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57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FCF37-96F5-4C03-B891-06973AB0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2410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Diagnose impact, ROI, risk, and 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313CA-1D8F-4888-9F08-53208A57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22F11-52C4-46B7-AF82-A4A1C782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12954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8A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513E9-48C0-43AE-9ED4-710917F7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57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Select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6D454-E0D1-4CE2-B80E-D772C094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Monitoring, NILM, cleaning, ticket, bill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CF826-CE36-4867-9C4B-19070FD8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45D8A-BFB6-41D6-AAFB-E3B5A9F0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43100"/>
            <a:ext cx="12954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13335">
            <a:solidFill>
              <a:srgbClr val="C981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7B641-EFB1-4ECE-9C50-5CD33FCF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57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8100"/>
                </a:solidFill>
              </a:defRPr>
            </a:pPr>
            <a:r>
              <a:rPr sz="1125" b="1">
                <a:solidFill>
                  <a:srgbClr val="C98100"/>
                </a:solidFill>
              </a:rPr>
              <a:t>Approval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E21F9-7B87-43DF-B176-1F79B974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Customer controls external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6FFB6-C894-46ED-9926-BA2D8FC6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5CFE4-D4CF-4036-BC50-645EC59B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12954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8A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51F06-778B-4AE7-9BC1-A8391820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57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Execute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9C038-1C6B-44DB-B390-1AE97624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Ticket, cleaner, calendar, WhatsApp, email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B2E4C-D086-428E-9E96-D82BC74A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A06DE-6D4C-4361-A52E-6A6EE8D9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12954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13335">
            <a:solidFill>
              <a:srgbClr val="168A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2BDA9-E0C3-49BB-A82A-DB76898C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54652-A26C-499A-8E25-4A57FD08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Track action status and SLA follow-up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DE579-3488-4194-A51C-25BC9CD9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85922-0254-475F-917E-33C76C41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43100"/>
            <a:ext cx="12954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8A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7C63D-B99A-4ED6-8DEF-CE949187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57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Learn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E0B36A-D9A5-403A-8771-2F6A317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Store safe customer preferences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77E04-94F5-4EA8-B6D1-3ABFCAFC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What judges should notice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4B6766-D79C-4038-8F16-98DACAD9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382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CF7EF"/>
          </a:solidFill>
          <a:ln xmlns:a="http://schemas.openxmlformats.org/drawingml/2006/main" w="9525">
            <a:solidFill>
              <a:srgbClr val="B8DF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492317-602B-4836-9C29-763064A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969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Solaris exposes the agentic chain for every action: the goal, the selected specialist agents, the approval gate, the tool execution, and the verification/learning outcome.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485EB-0743-4773-A1A7-71A0074D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1591241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DD18F2-72A3-423A-93AB-EC96405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6FD87-6EC1-4337-A06F-9870B85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Show only the flows that prove Solaris is agentic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D98C4-419B-40D2-B2D8-F98274DB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7EC3D-DD57-4DAA-BC22-E4FF2D9B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4B915-B060-4FDF-9549-B8160680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3ECC2-D14E-4ABF-963F-08BC0301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1. Dashboard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59F67-A3F2-4B04-9C90-55E8A52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610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Generation vs consumption, grid import/export, appliance tracker, day/week/month/year 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BADBB-B08F-4471-8E21-EA02ADB1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BA5CE-93DD-48D4-93C0-BFEF532F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2. AI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BCC4C-0072-45FD-91E6-DD771F38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4610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Processing animation, top agents, peer benchmark, bill explainer, surplus automation, cleaning ROI.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56FF-0048-4B33-B788-4CECEC72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E62A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C5EEB-75AD-4D52-8537-3E353434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2A2"/>
                </a:solidFill>
              </a:defRPr>
            </a:pPr>
            <a:r>
              <a:rPr sz="1800" b="1">
                <a:solidFill>
                  <a:srgbClr val="1E62A2"/>
                </a:solidFill>
              </a:rPr>
              <a:t>3. Mission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ECD57-F806-4E94-A508-323BAED7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4610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Approval cards with orchestration path and replay for each ticket/action.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17FAE-214C-4BCB-BFF1-F513D1B1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3681E-10DE-4877-8AEF-4A4D936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4. Approval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92FE0-CFA6-4215-84B7-BE3E15EA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610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Approve underproduction ticket; Solaris creates ticket, keeps history, tracks service follow-up.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FF963-182B-4A97-8DC6-CFB2D72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38500"/>
            <a:ext cx="581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5D905-244C-47DF-A08D-492066FC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52"/>
                </a:solidFill>
              </a:defRPr>
            </a:pPr>
            <a:r>
              <a:rPr sz="1650" b="1">
                <a:solidFill>
                  <a:srgbClr val="168A52"/>
                </a:solidFill>
              </a:rPr>
              <a:t>In the video, spend time on Mission Control: it is the evidence that Solaris orchestrates specialist agents and tools.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19ACB-AB49-4BDE-AF7B-95AD3DC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1337841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FE3461-77FF-4108-9E73-9C974252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9F969-1D96-40E9-AC02-C4226FCD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OpenAI powers safe solar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93E52-4186-4536-8AD1-4FA0FC2D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CC31B-2B40-49C3-9518-6642913D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959B8-8153-4F64-B37B-6BA2A90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D195A-168F-483F-BA2A-2792628D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2A2"/>
                </a:solidFill>
              </a:defRPr>
            </a:pPr>
            <a:r>
              <a:rPr sz="1650" b="1">
                <a:solidFill>
                  <a:srgbClr val="1E62A2"/>
                </a:solidFill>
              </a:rPr>
              <a:t>Customer 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05E2D-A3A8-4F70-A38E-3D4E03A0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336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Dashboard UI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Floating Solaris Agent chat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OTP and dashboard authentication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F2545-5FF2-4CEA-B864-69DFA46D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5399E-0997-4B3F-8104-465199F0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954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9B0FB-6750-4997-B982-C40AA54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Solaris Node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213C3-F020-4D83-8209-0B09C3F8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1336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Session isolation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Customer-specific state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Event log + preferences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Small explicit endpoints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223D5-6F57-403C-B852-8C17671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7A40F-DEE0-4953-A864-08490C0A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28750"/>
            <a:ext cx="2476500" cy="33718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E62A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45163-13BD-4D0C-BBD7-6355F450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81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62A2"/>
                </a:solidFill>
              </a:defRPr>
            </a:pPr>
            <a:r>
              <a:rPr sz="1725" b="1">
                <a:solidFill>
                  <a:srgbClr val="1E62A2"/>
                </a:solidFill>
              </a:rPr>
              <a:t>Orchestrator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2F3F7-BBD9-4992-963C-C0DC9007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24050"/>
            <a:ext cx="21336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Goal routing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Agent selection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Approval gates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Tool execution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Verification +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242A3-7F87-45C3-A854-54CD2D64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41063-89D7-4E93-95FE-D1B81AF2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95450"/>
            <a:ext cx="2190750" cy="2857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79B08-6738-41CD-A972-D699C1DA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478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52"/>
                </a:solidFill>
              </a:defRPr>
            </a:pPr>
            <a:r>
              <a:rPr sz="1650" b="1">
                <a:solidFill>
                  <a:srgbClr val="168A52"/>
                </a:solidFill>
              </a:rPr>
              <a:t>Adapters +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6C7B9-0631-4EC2-B9AD-39320020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90750"/>
            <a:ext cx="18478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Gmail / WhatsApp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Calendar reminder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Ticket workflow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Cleaner controller</a:t>
            </a:r>
          </a:p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Future inverter + meter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20118-7DD2-4B57-A220-B530730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Specialist 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5230C-6E30-474C-AAE9-07A6F51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E62A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2EAE0-BD8B-4FEC-8FDF-643CDA1F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578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62A2"/>
                </a:solidFill>
              </a:defRPr>
            </a:pPr>
            <a:r>
              <a:rPr sz="975" b="1">
                <a:solidFill>
                  <a:srgbClr val="1E62A2"/>
                </a:solidFill>
              </a:rPr>
              <a:t>Solar 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1761C-0F3D-4C29-9CEF-5E347338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911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E62A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C9BFF-EB22-44B4-B15C-0D26202B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578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62A2"/>
                </a:solidFill>
              </a:defRPr>
            </a:pPr>
            <a:r>
              <a:rPr sz="975" b="1">
                <a:solidFill>
                  <a:srgbClr val="1E62A2"/>
                </a:solidFill>
              </a:rPr>
              <a:t>Hybrid NILM + smart plugs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BC8D18-E308-4F1E-891B-89E87C65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911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E62A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7FF99-E3C1-4840-88F0-68740340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578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62A2"/>
                </a:solidFill>
              </a:defRPr>
            </a:pPr>
            <a:r>
              <a:rPr sz="975" b="1">
                <a:solidFill>
                  <a:srgbClr val="1E62A2"/>
                </a:solidFill>
              </a:rPr>
              <a:t>Bill explainer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E0607-E801-47D6-9CAB-40CDF19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911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E6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0713D-977F-4188-892F-4FD0E92B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578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62A2"/>
                </a:solidFill>
              </a:defRPr>
            </a:pPr>
            <a:r>
              <a:rPr sz="975" b="1">
                <a:solidFill>
                  <a:srgbClr val="1E62A2"/>
                </a:solidFill>
              </a:rPr>
              <a:t>Surplus automation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66F92-670B-4D5F-8832-8DD2CC1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68A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E0190-3414-4683-9AEC-D9110FC3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959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52"/>
                </a:solidFill>
              </a:defRPr>
            </a:pPr>
            <a:r>
              <a:rPr sz="975" b="1">
                <a:solidFill>
                  <a:srgbClr val="168A52"/>
                </a:solidFill>
              </a:rPr>
              <a:t>Cleaning ROI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E0B12-4DB8-4AB4-A7F8-13102741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2930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68A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8DF06-642B-45D4-B857-114E0F6A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959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52"/>
                </a:solidFill>
              </a:defRPr>
            </a:pPr>
            <a:r>
              <a:rPr sz="975" b="1">
                <a:solidFill>
                  <a:srgbClr val="168A52"/>
                </a:solidFill>
              </a:rPr>
              <a:t>Underperformance + tickets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3506D-99A5-4E22-B22D-8A181E0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82930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68A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0D3C13-705D-4AAE-9184-128E1D2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959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52"/>
                </a:solidFill>
              </a:defRPr>
            </a:pPr>
            <a:r>
              <a:rPr sz="975" b="1">
                <a:solidFill>
                  <a:srgbClr val="168A52"/>
                </a:solidFill>
              </a:rPr>
              <a:t>Peer benchmark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E9B21B-D188-4594-93F5-93B712E6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82930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68A5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BC22B1-E6EB-4814-AE5A-26B4953D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959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52"/>
                </a:solidFill>
              </a:defRPr>
            </a:pPr>
            <a:r>
              <a:rPr sz="975" b="1">
                <a:solidFill>
                  <a:srgbClr val="168A52"/>
                </a:solidFill>
              </a:rPr>
              <a:t>Notification + memory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935501-602B-4308-83DF-26F0193F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417456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76E7A1-608B-4268-9974-8E95708B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F297B-9843-4543-87D3-98062E36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Solaris scales solar customer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35F64-B52A-4A49-9A71-175ACD5C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3B1C7-7D85-43ED-A218-0E8A5E8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B1E8B-11F8-4A23-8173-4C5D4B0A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3431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47147-7DCA-48C4-899C-C8A54BA9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52"/>
                </a:solidFill>
              </a:defRPr>
            </a:pPr>
            <a:r>
              <a:rPr sz="2025" b="1">
                <a:solidFill>
                  <a:srgbClr val="168A52"/>
                </a:solidFill>
              </a:rPr>
              <a:t>30-50%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CECC8-E38C-4968-A84B-9F4AD64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faster issue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F309D-9856-4363-A6E8-AFD0B4C9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4950"/>
            <a:ext cx="23431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1BD08-7935-4154-9B27-8EF23B9D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38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2A2"/>
                </a:solidFill>
              </a:defRPr>
            </a:pPr>
            <a:r>
              <a:rPr sz="2025" b="1">
                <a:solidFill>
                  <a:srgbClr val="1E62A2"/>
                </a:solidFill>
              </a:rPr>
              <a:t>20-40%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CFDBB-00EB-49C2-804A-DF20FC01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less manual 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AE321-05B6-4B34-87B5-BF61D99E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23431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8E091-9E45-44B1-82F2-349FC8D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52"/>
                </a:solidFill>
              </a:defRPr>
            </a:pPr>
            <a:r>
              <a:rPr sz="2025" b="1">
                <a:solidFill>
                  <a:srgbClr val="168A52"/>
                </a:solidFill>
              </a:rPr>
              <a:t>5-15%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6BF90-A2E3-4AC2-9431-D895C71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higher solar self-consumption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6BD9F-3D94-4E18-9EA7-6DB815F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3431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D7377-8379-4769-9973-55E6E8E4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38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2A2"/>
                </a:solidFill>
              </a:defRPr>
            </a:pPr>
            <a:r>
              <a:rPr sz="2025" b="1">
                <a:solidFill>
                  <a:srgbClr val="1E62A2"/>
                </a:solidFill>
              </a:rPr>
              <a:t>24/7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4AD0C-03EA-4AA1-A254-AF7CAA0D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193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customer action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42F49-393F-4BC4-B13B-18F0D99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Judge criteria alignment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0F5A4-2463-4E5B-BB13-AA8FBD3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2"/>
                </a:solidFill>
              </a:defRPr>
            </a:pPr>
            <a:r>
              <a:rPr sz="1350" b="1">
                <a:solidFill>
                  <a:srgbClr val="168A52"/>
                </a:solidFill>
              </a:rPr>
              <a:t>Innovation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1E0CC-D62D-4D83-9D9E-811A4DA5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Solar-specific orchestration beyond standard chatbot automation.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0588D-891B-4C61-AF98-5A027E5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F5FD6-10B4-4B0D-B1BF-4E5BAAA8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2A2"/>
                </a:solidFill>
              </a:defRPr>
            </a:pPr>
            <a:r>
              <a:rPr sz="1350" b="1">
                <a:solidFill>
                  <a:srgbClr val="1E62A2"/>
                </a:solidFill>
              </a:rPr>
              <a:t>Impact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75A9E-CED8-4F8C-8C65-6AB07325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Measures productivity, turnaround time, grid import reduction, customer experience.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7B4D5-7FB0-4EAA-8173-6289A4EE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CB22A-0E93-456D-86D4-E0C989A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2"/>
                </a:solidFill>
              </a:defRPr>
            </a:pPr>
            <a:r>
              <a:rPr sz="1350" b="1">
                <a:solidFill>
                  <a:srgbClr val="168A52"/>
                </a:solidFill>
              </a:rPr>
              <a:t>Relevance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4627D-932F-4DDD-AD59-B1FDEFE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19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Targets a real Energy-sector workflow: solar customer operations and service escalation.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194A2-38C3-46C4-BCFB-5E7ED76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4175E-3D49-453C-B808-6AB07C9A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2A2"/>
                </a:solidFill>
              </a:defRPr>
            </a:pPr>
            <a:r>
              <a:rPr sz="1350" b="1">
                <a:solidFill>
                  <a:srgbClr val="1E62A2"/>
                </a:solidFill>
              </a:rPr>
              <a:t>OpenAI capability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108BFA-7E25-43DC-8D46-0639F42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76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Reasoning, decision support, tool use, workflow orchestration, and natural interaction.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047DC4-0217-4AE2-8F51-0DDE57C5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AACD3-62B2-43A1-A1DB-3100472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2"/>
                </a:solidFill>
              </a:defRPr>
            </a:pPr>
            <a:r>
              <a:rPr sz="1350" b="1">
                <a:solidFill>
                  <a:srgbClr val="168A52"/>
                </a:solidFill>
              </a:rPr>
              <a:t>Scalability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32622C-E5B0-4765-BF3B-DED602B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340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Repeatable agent pattern across many customers, sites, teams, and adapters.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E0EC0-4FD7-4B4B-B57F-4292164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E4D64D-88C0-4390-82A3-6FEA0189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3143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8DF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EBEE7A-6DC4-44BC-81CD-F419CF27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Closing message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393FBB-FBC5-404D-9C24-C1E02805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19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Solaris is an Agentic AI orchestration layer for solar customer operations.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5005BB-7589-4D9B-B076-6DA8001D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598970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2026-07-13T10:18:22.8300000Z</dcterms:created>
  <dcterms:modified xsi:type="dcterms:W3CDTF">2026-07-13T10:18:22.8300000Z</dcterms:modified>
</coreProperties>
</file>