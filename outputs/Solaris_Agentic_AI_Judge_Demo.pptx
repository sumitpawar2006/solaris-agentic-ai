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61" r:id="rId5"/>
    <p:sldId id="260" r:id="rId6"/>
    <p:sldId id="258" r:id="rId7"/>
    <p:sldId id="263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xKunal ." userId="a209cf2c0d53c065" providerId="LiveId" clId="{A10705A1-AF24-40ED-B562-C6448DAE1E58}"/>
    <pc:docChg chg="undo custSel addSld delSld modSld sldOrd">
      <pc:chgData name="BuxKunal ." userId="a209cf2c0d53c065" providerId="LiveId" clId="{A10705A1-AF24-40ED-B562-C6448DAE1E58}" dt="2026-07-13T11:24:35.087" v="210"/>
      <pc:docMkLst>
        <pc:docMk/>
      </pc:docMkLst>
      <pc:sldChg chg="modSp mod">
        <pc:chgData name="BuxKunal ." userId="a209cf2c0d53c065" providerId="LiveId" clId="{A10705A1-AF24-40ED-B562-C6448DAE1E58}" dt="2026-07-13T08:32:52.445" v="22" actId="20577"/>
        <pc:sldMkLst>
          <pc:docMk/>
          <pc:sldMk cId="119323312" sldId="257"/>
        </pc:sldMkLst>
        <pc:spChg chg="mod">
          <ac:chgData name="BuxKunal ." userId="a209cf2c0d53c065" providerId="LiveId" clId="{A10705A1-AF24-40ED-B562-C6448DAE1E58}" dt="2026-07-13T08:32:52.445" v="22" actId="20577"/>
          <ac:spMkLst>
            <pc:docMk/>
            <pc:sldMk cId="119323312" sldId="257"/>
            <ac:spMk id="32" creationId="{0E55605E-D3C7-4D78-BC83-D8E7A2382415}"/>
          </ac:spMkLst>
        </pc:spChg>
      </pc:sldChg>
      <pc:sldChg chg="modSp mod">
        <pc:chgData name="BuxKunal ." userId="a209cf2c0d53c065" providerId="LiveId" clId="{A10705A1-AF24-40ED-B562-C6448DAE1E58}" dt="2026-07-13T09:34:15.781" v="205" actId="20577"/>
        <pc:sldMkLst>
          <pc:docMk/>
          <pc:sldMk cId="2086897402" sldId="258"/>
        </pc:sldMkLst>
        <pc:spChg chg="mod">
          <ac:chgData name="BuxKunal ." userId="a209cf2c0d53c065" providerId="LiveId" clId="{A10705A1-AF24-40ED-B562-C6448DAE1E58}" dt="2026-07-13T08:33:09.768" v="23" actId="20577"/>
          <ac:spMkLst>
            <pc:docMk/>
            <pc:sldMk cId="2086897402" sldId="258"/>
            <ac:spMk id="2" creationId="{04E281D8-1B42-4C4A-852E-09044734BC70}"/>
          </ac:spMkLst>
        </pc:spChg>
        <pc:spChg chg="mod">
          <ac:chgData name="BuxKunal ." userId="a209cf2c0d53c065" providerId="LiveId" clId="{A10705A1-AF24-40ED-B562-C6448DAE1E58}" dt="2026-07-13T08:33:47.631" v="35" actId="20577"/>
          <ac:spMkLst>
            <pc:docMk/>
            <pc:sldMk cId="2086897402" sldId="258"/>
            <ac:spMk id="10" creationId="{2B1EF369-B697-4398-8D30-E6C69991B86D}"/>
          </ac:spMkLst>
        </pc:spChg>
        <pc:spChg chg="mod">
          <ac:chgData name="BuxKunal ." userId="a209cf2c0d53c065" providerId="LiveId" clId="{A10705A1-AF24-40ED-B562-C6448DAE1E58}" dt="2026-07-13T08:34:55.802" v="74" actId="20577"/>
          <ac:spMkLst>
            <pc:docMk/>
            <pc:sldMk cId="2086897402" sldId="258"/>
            <ac:spMk id="16" creationId="{0B184ED0-1B8D-4DF6-91C3-85713ED12D1A}"/>
          </ac:spMkLst>
        </pc:spChg>
        <pc:spChg chg="mod">
          <ac:chgData name="BuxKunal ." userId="a209cf2c0d53c065" providerId="LiveId" clId="{A10705A1-AF24-40ED-B562-C6448DAE1E58}" dt="2026-07-13T09:34:15.781" v="205" actId="20577"/>
          <ac:spMkLst>
            <pc:docMk/>
            <pc:sldMk cId="2086897402" sldId="258"/>
            <ac:spMk id="18" creationId="{CE84DB70-19BD-483B-BA78-2355CD67A263}"/>
          </ac:spMkLst>
        </pc:spChg>
      </pc:sldChg>
      <pc:sldChg chg="modSp del mod">
        <pc:chgData name="BuxKunal ." userId="a209cf2c0d53c065" providerId="LiveId" clId="{A10705A1-AF24-40ED-B562-C6448DAE1E58}" dt="2026-07-13T09:37:24.994" v="206" actId="47"/>
        <pc:sldMkLst>
          <pc:docMk/>
          <pc:sldMk cId="1069639048" sldId="259"/>
        </pc:sldMkLst>
        <pc:spChg chg="mod">
          <ac:chgData name="BuxKunal ." userId="a209cf2c0d53c065" providerId="LiveId" clId="{A10705A1-AF24-40ED-B562-C6448DAE1E58}" dt="2026-07-13T08:36:03.885" v="75" actId="20577"/>
          <ac:spMkLst>
            <pc:docMk/>
            <pc:sldMk cId="1069639048" sldId="259"/>
            <ac:spMk id="19" creationId="{AB08E460-F266-4F1B-96C9-D753F3AD6E16}"/>
          </ac:spMkLst>
        </pc:spChg>
      </pc:sldChg>
      <pc:sldChg chg="modSp mod ord">
        <pc:chgData name="BuxKunal ." userId="a209cf2c0d53c065" providerId="LiveId" clId="{A10705A1-AF24-40ED-B562-C6448DAE1E58}" dt="2026-07-13T09:48:21.599" v="208"/>
        <pc:sldMkLst>
          <pc:docMk/>
          <pc:sldMk cId="997542385" sldId="260"/>
        </pc:sldMkLst>
        <pc:spChg chg="mod">
          <ac:chgData name="BuxKunal ." userId="a209cf2c0d53c065" providerId="LiveId" clId="{A10705A1-AF24-40ED-B562-C6448DAE1E58}" dt="2026-07-13T08:37:22.428" v="91" actId="20577"/>
          <ac:spMkLst>
            <pc:docMk/>
            <pc:sldMk cId="997542385" sldId="260"/>
            <ac:spMk id="17" creationId="{29174A5D-C314-471F-BA9D-E2558781D706}"/>
          </ac:spMkLst>
        </pc:spChg>
        <pc:spChg chg="mod">
          <ac:chgData name="BuxKunal ." userId="a209cf2c0d53c065" providerId="LiveId" clId="{A10705A1-AF24-40ED-B562-C6448DAE1E58}" dt="2026-07-13T08:38:12.921" v="102" actId="1076"/>
          <ac:spMkLst>
            <pc:docMk/>
            <pc:sldMk cId="997542385" sldId="260"/>
            <ac:spMk id="34" creationId="{6661309D-7A19-4877-85B6-6BCC85533938}"/>
          </ac:spMkLst>
        </pc:spChg>
        <pc:spChg chg="mod">
          <ac:chgData name="BuxKunal ." userId="a209cf2c0d53c065" providerId="LiveId" clId="{A10705A1-AF24-40ED-B562-C6448DAE1E58}" dt="2026-07-13T08:38:21.907" v="104" actId="14100"/>
          <ac:spMkLst>
            <pc:docMk/>
            <pc:sldMk cId="997542385" sldId="260"/>
            <ac:spMk id="35" creationId="{200CFC61-73FA-47DB-B185-D0D1766BD8C5}"/>
          </ac:spMkLst>
        </pc:spChg>
      </pc:sldChg>
      <pc:sldChg chg="addSp modSp new mod ord">
        <pc:chgData name="BuxKunal ." userId="a209cf2c0d53c065" providerId="LiveId" clId="{A10705A1-AF24-40ED-B562-C6448DAE1E58}" dt="2026-07-13T11:24:35.087" v="210"/>
        <pc:sldMkLst>
          <pc:docMk/>
          <pc:sldMk cId="2864546402" sldId="261"/>
        </pc:sldMkLst>
        <pc:picChg chg="add mod">
          <ac:chgData name="BuxKunal ." userId="a209cf2c0d53c065" providerId="LiveId" clId="{A10705A1-AF24-40ED-B562-C6448DAE1E58}" dt="2026-07-13T08:56:08.749" v="107"/>
          <ac:picMkLst>
            <pc:docMk/>
            <pc:sldMk cId="2864546402" sldId="261"/>
            <ac:picMk id="3" creationId="{0C58BC2A-520C-966A-89C3-D73C1E85C434}"/>
          </ac:picMkLst>
        </pc:picChg>
      </pc:sldChg>
      <pc:sldChg chg="addSp modSp new mod ord">
        <pc:chgData name="BuxKunal ." userId="a209cf2c0d53c065" providerId="LiveId" clId="{A10705A1-AF24-40ED-B562-C6448DAE1E58}" dt="2026-07-13T08:59:45.955" v="176" actId="1076"/>
        <pc:sldMkLst>
          <pc:docMk/>
          <pc:sldMk cId="1631891509" sldId="262"/>
        </pc:sldMkLst>
        <pc:spChg chg="add mod">
          <ac:chgData name="BuxKunal ." userId="a209cf2c0d53c065" providerId="LiveId" clId="{A10705A1-AF24-40ED-B562-C6448DAE1E58}" dt="2026-07-13T08:57:51.581" v="113" actId="255"/>
          <ac:spMkLst>
            <pc:docMk/>
            <pc:sldMk cId="1631891509" sldId="262"/>
            <ac:spMk id="3" creationId="{0A3D7B16-F8A5-7A85-2412-89D04E6E6767}"/>
          </ac:spMkLst>
        </pc:spChg>
        <pc:spChg chg="add mod">
          <ac:chgData name="BuxKunal ." userId="a209cf2c0d53c065" providerId="LiveId" clId="{A10705A1-AF24-40ED-B562-C6448DAE1E58}" dt="2026-07-13T08:57:26.967" v="112" actId="1076"/>
          <ac:spMkLst>
            <pc:docMk/>
            <pc:sldMk cId="1631891509" sldId="262"/>
            <ac:spMk id="5" creationId="{4A417535-0B80-A792-B0C5-1EDCB7F003F5}"/>
          </ac:spMkLst>
        </pc:spChg>
        <pc:spChg chg="add mod">
          <ac:chgData name="BuxKunal ." userId="a209cf2c0d53c065" providerId="LiveId" clId="{A10705A1-AF24-40ED-B562-C6448DAE1E58}" dt="2026-07-13T08:59:45.955" v="176" actId="1076"/>
          <ac:spMkLst>
            <pc:docMk/>
            <pc:sldMk cId="1631891509" sldId="262"/>
            <ac:spMk id="7" creationId="{C0B9CBEC-5BC9-A87D-E962-212E3061BB99}"/>
          </ac:spMkLst>
        </pc:spChg>
      </pc:sldChg>
      <pc:sldChg chg="addSp modSp new mod">
        <pc:chgData name="BuxKunal ." userId="a209cf2c0d53c065" providerId="LiveId" clId="{A10705A1-AF24-40ED-B562-C6448DAE1E58}" dt="2026-07-13T09:00:52.267" v="199" actId="121"/>
        <pc:sldMkLst>
          <pc:docMk/>
          <pc:sldMk cId="1304132933" sldId="263"/>
        </pc:sldMkLst>
        <pc:spChg chg="add mod">
          <ac:chgData name="BuxKunal ." userId="a209cf2c0d53c065" providerId="LiveId" clId="{A10705A1-AF24-40ED-B562-C6448DAE1E58}" dt="2026-07-13T09:00:52.267" v="199" actId="121"/>
          <ac:spMkLst>
            <pc:docMk/>
            <pc:sldMk cId="1304132933" sldId="263"/>
            <ac:spMk id="3" creationId="{A93C7ACD-79B7-9CAB-A97F-929F64A2AC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business problem: solar users and solar businesses have data but not coordinated action.</a:t>
            </a:r>
          </a:p>
          <a:p>
            <a:r>
              <a:t>Position Solaris as an Agentic AI operations assistant, not a dashboard and not a chatbot.</a:t>
            </a:r>
          </a:p>
          <a:p>
            <a:r>
              <a:t>Transition: the next slide shows exactly what makes it agentic.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define agentic AI in the demo.</a:t>
            </a:r>
          </a:p>
          <a:p>
            <a:r>
              <a:t>Emphasize the approval gate: Solaris does not silently take external actions.</a:t>
            </a:r>
          </a:p>
          <a:p>
            <a:r>
              <a:t>Transition: now show where this appears in the working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mapping directly to the judging rubric.</a:t>
            </a:r>
          </a:p>
          <a:p>
            <a:r>
              <a:t>Repeat: Solaris is not a chatbot; it is an Agentic AI orchestration layer.</a:t>
            </a:r>
          </a:p>
          <a:p>
            <a:r>
              <a:t>End with productivity, faster service, better decisions, and scalable enterprise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live demo tight: dashboard, AI Agents, Mission Control, approval.</a:t>
            </a:r>
          </a:p>
          <a:p>
            <a:r>
              <a:t>Do not show every tab. The goal is to prove the workflow.</a:t>
            </a:r>
          </a:p>
          <a:p>
            <a:r>
              <a:t>Transition: show the technical architecture behind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3D7B16-F8A5-7A85-2412-89D04E6E6767}"/>
              </a:ext>
            </a:extLst>
          </p:cNvPr>
          <p:cNvSpPr>
            <a:spLocks noGrp="1"/>
          </p:cNvSpPr>
          <p:nvPr/>
        </p:nvSpPr>
        <p:spPr>
          <a:xfrm>
            <a:off x="6661354" y="1685003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B1220"/>
                </a:solidFill>
              </a:defRPr>
            </a:pPr>
            <a:r>
              <a:rPr sz="6000" b="1" dirty="0">
                <a:solidFill>
                  <a:srgbClr val="0B1220"/>
                </a:solidFill>
              </a:rPr>
              <a:t>Solaris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17535-0B80-A792-B0C5-1EDCB7F003F5}"/>
              </a:ext>
            </a:extLst>
          </p:cNvPr>
          <p:cNvSpPr>
            <a:spLocks noGrp="1"/>
          </p:cNvSpPr>
          <p:nvPr/>
        </p:nvSpPr>
        <p:spPr>
          <a:xfrm>
            <a:off x="6699454" y="2408903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68A52"/>
                </a:solidFill>
              </a:defRPr>
            </a:pPr>
            <a:r>
              <a:rPr sz="1875" b="1">
                <a:solidFill>
                  <a:srgbClr val="168A52"/>
                </a:solidFill>
              </a:rPr>
              <a:t>Agentic AI for solar customer operations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9CBEC-5BC9-A87D-E962-212E3061BB99}"/>
              </a:ext>
            </a:extLst>
          </p:cNvPr>
          <p:cNvSpPr>
            <a:spLocks noGrp="1"/>
          </p:cNvSpPr>
          <p:nvPr/>
        </p:nvSpPr>
        <p:spPr>
          <a:xfrm>
            <a:off x="8429317" y="2770853"/>
            <a:ext cx="2572979" cy="943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E62A2"/>
                </a:solidFill>
              </a:defRPr>
            </a:pPr>
            <a:r>
              <a:rPr lang="en-US" sz="1350" b="1" dirty="0">
                <a:solidFill>
                  <a:srgbClr val="1E62A2"/>
                </a:solidFill>
              </a:rPr>
              <a:t>-</a:t>
            </a:r>
          </a:p>
          <a:p>
            <a:pPr algn="l">
              <a:defRPr sz="1350" b="1">
                <a:solidFill>
                  <a:srgbClr val="1E62A2"/>
                </a:solidFill>
              </a:defRPr>
            </a:pPr>
            <a:r>
              <a:rPr lang="en-US" sz="1350" b="1" dirty="0">
                <a:solidFill>
                  <a:srgbClr val="1E62A2"/>
                </a:solidFill>
              </a:rPr>
              <a:t>Ranjitsingh Chandel (51621498)</a:t>
            </a:r>
          </a:p>
          <a:p>
            <a:pPr algn="l">
              <a:defRPr sz="1350" b="1">
                <a:solidFill>
                  <a:srgbClr val="1E62A2"/>
                </a:solidFill>
              </a:defRPr>
            </a:pPr>
            <a:r>
              <a:rPr lang="en-US" sz="1350" b="1" dirty="0">
                <a:solidFill>
                  <a:srgbClr val="1E62A2"/>
                </a:solidFill>
              </a:rPr>
              <a:t>+91 9960587532</a:t>
            </a:r>
          </a:p>
          <a:p>
            <a:pPr algn="l">
              <a:defRPr sz="1350" b="1">
                <a:solidFill>
                  <a:srgbClr val="1E62A2"/>
                </a:solidFill>
              </a:defRPr>
            </a:pPr>
            <a:endParaRPr sz="1350" b="1" dirty="0">
              <a:solidFill>
                <a:srgbClr val="1E62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9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04DEA9-6BBB-436E-BCC4-ED8E43A5EA59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B1220"/>
                </a:solidFill>
              </a:defRPr>
            </a:pPr>
            <a:r>
              <a:rPr sz="4350" b="1" dirty="0">
                <a:solidFill>
                  <a:srgbClr val="0B1220"/>
                </a:solidFill>
              </a:rPr>
              <a:t>Solaris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D9A46-E32D-4AFF-B745-04B734CAD5E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68A52"/>
                </a:solidFill>
              </a:defRPr>
            </a:pPr>
            <a:r>
              <a:rPr sz="1875" b="1">
                <a:solidFill>
                  <a:srgbClr val="168A52"/>
                </a:solidFill>
              </a:rPr>
              <a:t>Agentic AI for solar customer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384F1-5E34-42F0-8C76-AF93B1358DE2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5524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Turns passive solar monitoring into an orchestrated workflow that observes, reasons, asks approval, acts, verifies, and learns.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755F8F-0F1C-46D8-8B63-946D67E3D0C4}"/>
              </a:ext>
            </a:extLst>
          </p:cNvPr>
          <p:cNvSpPr>
            <a:spLocks noGrp="1"/>
          </p:cNvSpPr>
          <p:nvPr/>
        </p:nvSpPr>
        <p:spPr>
          <a:xfrm>
            <a:off x="495300" y="3105150"/>
            <a:ext cx="3733800" cy="323850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9525">
            <a:solidFill>
              <a:srgbClr val="1E62A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66D319-3D3B-4270-8186-8FA00BA3BAD0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3505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E62A2"/>
                </a:solidFill>
              </a:defRPr>
            </a:pPr>
            <a:r>
              <a:rPr sz="975" b="1">
                <a:solidFill>
                  <a:srgbClr val="1E62A2"/>
                </a:solidFill>
              </a:rPr>
              <a:t>Energy sector | Solar customer operations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B55B5E-6394-4D84-960D-4596FA63ADA4}"/>
              </a:ext>
            </a:extLst>
          </p:cNvPr>
          <p:cNvSpPr>
            <a:spLocks noGrp="1"/>
          </p:cNvSpPr>
          <p:nvPr/>
        </p:nvSpPr>
        <p:spPr>
          <a:xfrm>
            <a:off x="4400550" y="3105150"/>
            <a:ext cx="2743200" cy="323850"/>
          </a:xfrm>
          <a:prstGeom prst="roundRect">
            <a:avLst>
              <a:gd name="adj" fmla="val 50000"/>
            </a:avLst>
          </a:prstGeom>
          <a:solidFill>
            <a:srgbClr val="EAF7EF"/>
          </a:solidFill>
          <a:ln w="9525">
            <a:solidFill>
              <a:srgbClr val="168A5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A96D3-0D7C-4023-B7B3-1D83813D83A9}"/>
              </a:ext>
            </a:extLst>
          </p:cNvPr>
          <p:cNvSpPr>
            <a:spLocks noGrp="1"/>
          </p:cNvSpPr>
          <p:nvPr/>
        </p:nvSpPr>
        <p:spPr>
          <a:xfrm>
            <a:off x="4514850" y="3171825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Not a chatbot: orchestrates agents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1FC093-D13E-48ED-8088-627A4770C987}"/>
              </a:ext>
            </a:extLst>
          </p:cNvPr>
          <p:cNvSpPr>
            <a:spLocks noGrp="1"/>
          </p:cNvSpPr>
          <p:nvPr/>
        </p:nvSpPr>
        <p:spPr>
          <a:xfrm>
            <a:off x="7239000" y="628650"/>
            <a:ext cx="4000500" cy="4838700"/>
          </a:xfrm>
          <a:prstGeom prst="roundRect">
            <a:avLst>
              <a:gd name="adj" fmla="val 1429"/>
            </a:avLst>
          </a:prstGeom>
          <a:solidFill>
            <a:srgbClr val="F4F7F4"/>
          </a:solidFill>
          <a:ln w="9525">
            <a:solidFill>
              <a:srgbClr val="DDE4D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8E741-99D7-4848-894F-01BD11648572}"/>
              </a:ext>
            </a:extLst>
          </p:cNvPr>
          <p:cNvSpPr>
            <a:spLocks noGrp="1"/>
          </p:cNvSpPr>
          <p:nvPr/>
        </p:nvSpPr>
        <p:spPr>
          <a:xfrm>
            <a:off x="7543800" y="952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Real operational pain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EE94A5-1DE4-448C-B288-C0ED8F463521}"/>
              </a:ext>
            </a:extLst>
          </p:cNvPr>
          <p:cNvSpPr>
            <a:spLocks noGrp="1"/>
          </p:cNvSpPr>
          <p:nvPr/>
        </p:nvSpPr>
        <p:spPr>
          <a:xfrm>
            <a:off x="7543800" y="1390650"/>
            <a:ext cx="32766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1A49BC-0602-44A5-A604-41078823AC92}"/>
              </a:ext>
            </a:extLst>
          </p:cNvPr>
          <p:cNvSpPr>
            <a:spLocks noGrp="1"/>
          </p:cNvSpPr>
          <p:nvPr/>
        </p:nvSpPr>
        <p:spPr>
          <a:xfrm>
            <a:off x="7715250" y="15430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Scattered signals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E35EA-537E-43F8-9116-1C6F44E8292E}"/>
              </a:ext>
            </a:extLst>
          </p:cNvPr>
          <p:cNvSpPr>
            <a:spLocks noGrp="1"/>
          </p:cNvSpPr>
          <p:nvPr/>
        </p:nvSpPr>
        <p:spPr>
          <a:xfrm>
            <a:off x="7715250" y="18859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Generation, appliances, cleaning, tickets, bill, and alerts live in separate workflows.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48123F-5AAE-4DFC-A2F8-AECC0C5DCB6D}"/>
              </a:ext>
            </a:extLst>
          </p:cNvPr>
          <p:cNvSpPr>
            <a:spLocks noGrp="1"/>
          </p:cNvSpPr>
          <p:nvPr/>
        </p:nvSpPr>
        <p:spPr>
          <a:xfrm>
            <a:off x="7543800" y="2343150"/>
            <a:ext cx="32766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98BB-1634-4EC2-9EB1-AE588475D6A0}"/>
              </a:ext>
            </a:extLst>
          </p:cNvPr>
          <p:cNvSpPr>
            <a:spLocks noGrp="1"/>
          </p:cNvSpPr>
          <p:nvPr/>
        </p:nvSpPr>
        <p:spPr>
          <a:xfrm>
            <a:off x="7715250" y="24955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Slow service response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CC9ED-EEFC-463F-A348-2E8A8995A4EE}"/>
              </a:ext>
            </a:extLst>
          </p:cNvPr>
          <p:cNvSpPr>
            <a:spLocks noGrp="1"/>
          </p:cNvSpPr>
          <p:nvPr/>
        </p:nvSpPr>
        <p:spPr>
          <a:xfrm>
            <a:off x="7715250" y="28384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Underproduction evidence is found late and service follow-up is manual.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AC85F3-D355-45ED-B46B-4BDCAF0C40CB}"/>
              </a:ext>
            </a:extLst>
          </p:cNvPr>
          <p:cNvSpPr>
            <a:spLocks noGrp="1"/>
          </p:cNvSpPr>
          <p:nvPr/>
        </p:nvSpPr>
        <p:spPr>
          <a:xfrm>
            <a:off x="7543800" y="3295650"/>
            <a:ext cx="32766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186CB-DF18-488A-A66E-2BA32843B37E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Low customer confidence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8D017-B69C-499A-9EA8-4DBAC0C01A62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Users see data, but not a recommended action with clear reasoning.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7CD58E-3624-414D-BC0D-8B4F01898005}"/>
              </a:ext>
            </a:extLst>
          </p:cNvPr>
          <p:cNvSpPr>
            <a:spLocks noGrp="1"/>
          </p:cNvSpPr>
          <p:nvPr/>
        </p:nvSpPr>
        <p:spPr>
          <a:xfrm>
            <a:off x="7543800" y="4248150"/>
            <a:ext cx="32766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B68DC8-C6E7-4B52-883E-D2E114A76CA1}"/>
              </a:ext>
            </a:extLst>
          </p:cNvPr>
          <p:cNvSpPr>
            <a:spLocks noGrp="1"/>
          </p:cNvSpPr>
          <p:nvPr/>
        </p:nvSpPr>
        <p:spPr>
          <a:xfrm>
            <a:off x="7715250" y="44005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Hard to scale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60DC5A-4378-4A47-A2BC-2BC6E0EB2CB6}"/>
              </a:ext>
            </a:extLst>
          </p:cNvPr>
          <p:cNvSpPr>
            <a:spLocks noGrp="1"/>
          </p:cNvSpPr>
          <p:nvPr/>
        </p:nvSpPr>
        <p:spPr>
          <a:xfrm>
            <a:off x="7715250" y="47434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Solar businesses need repeatable workflows across thousands of customer sites.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50C910-B931-4D6F-8D1B-49BE2ABF4EA4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116921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A6EB6F6-2C6B-4D9F-B801-98B7E93CFDE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AGENTIC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F11BE-2AE3-475E-AFA6-3734FE542C74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Solaris coordinates decisions through an observable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D69B070-090C-467B-BEC4-23C27D828F88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9525"/>
          </a:xfrm>
          <a:prstGeom prst="line">
            <a:avLst/>
          </a:prstGeom>
          <a:noFill/>
          <a:ln w="9525">
            <a:solidFill>
              <a:srgbClr val="CCD5C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E5B93B-292B-4527-8976-ECB9679633E1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8C186F-5FD8-47A7-B038-8305840F486B}"/>
              </a:ext>
            </a:extLst>
          </p:cNvPr>
          <p:cNvSpPr>
            <a:spLocks noGrp="1"/>
          </p:cNvSpPr>
          <p:nvPr/>
        </p:nvSpPr>
        <p:spPr>
          <a:xfrm>
            <a:off x="514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9D9AE-F9E6-4486-8ECF-7811476FF694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Observe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D5AFC1-7CC7-4509-82EE-092E86AE36FC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Solar, load, appliance, bill, ticket, weather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F589D0-B8CA-45FD-9A9C-BFD06553C2F4}"/>
              </a:ext>
            </a:extLst>
          </p:cNvPr>
          <p:cNvSpPr>
            <a:spLocks noGrp="1"/>
          </p:cNvSpPr>
          <p:nvPr/>
        </p:nvSpPr>
        <p:spPr>
          <a:xfrm>
            <a:off x="1809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C18B52-50D4-4DA6-A5CE-C00F5B35FED9}"/>
              </a:ext>
            </a:extLst>
          </p:cNvPr>
          <p:cNvSpPr>
            <a:spLocks noGrp="1"/>
          </p:cNvSpPr>
          <p:nvPr/>
        </p:nvSpPr>
        <p:spPr>
          <a:xfrm>
            <a:off x="2038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8FBF8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6719D-6D74-46B7-B5B1-A9260EED808A}"/>
              </a:ext>
            </a:extLst>
          </p:cNvPr>
          <p:cNvSpPr>
            <a:spLocks noGrp="1"/>
          </p:cNvSpPr>
          <p:nvPr/>
        </p:nvSpPr>
        <p:spPr>
          <a:xfrm>
            <a:off x="2152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Reason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E44C9-E8E8-4BF5-B970-1DD631E22BAF}"/>
              </a:ext>
            </a:extLst>
          </p:cNvPr>
          <p:cNvSpPr>
            <a:spLocks noGrp="1"/>
          </p:cNvSpPr>
          <p:nvPr/>
        </p:nvSpPr>
        <p:spPr>
          <a:xfrm>
            <a:off x="2152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Diagnose impact, ROI, risk, and timing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976379-50C1-4558-96D4-C47C4C34AAB8}"/>
              </a:ext>
            </a:extLst>
          </p:cNvPr>
          <p:cNvSpPr>
            <a:spLocks noGrp="1"/>
          </p:cNvSpPr>
          <p:nvPr/>
        </p:nvSpPr>
        <p:spPr>
          <a:xfrm>
            <a:off x="3333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65EDD7-C2BF-41FA-9D21-E57A1E4DBBC3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6F38C-CFD1-4332-95C9-5C933C7DCB90}"/>
              </a:ext>
            </a:extLst>
          </p:cNvPr>
          <p:cNvSpPr>
            <a:spLocks noGrp="1"/>
          </p:cNvSpPr>
          <p:nvPr/>
        </p:nvSpPr>
        <p:spPr>
          <a:xfrm>
            <a:off x="3676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Select agents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1EB2CC-8815-40BA-A0B3-6085E65EF770}"/>
              </a:ext>
            </a:extLst>
          </p:cNvPr>
          <p:cNvSpPr>
            <a:spLocks noGrp="1"/>
          </p:cNvSpPr>
          <p:nvPr/>
        </p:nvSpPr>
        <p:spPr>
          <a:xfrm>
            <a:off x="3676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Monitoring, NILM, cleaning, ticket, bill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F58DB0-AEA6-4B4A-B638-1E116094A9A2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D4F60F-9C23-41C8-A800-3E51D22057BB}"/>
              </a:ext>
            </a:extLst>
          </p:cNvPr>
          <p:cNvSpPr>
            <a:spLocks noGrp="1"/>
          </p:cNvSpPr>
          <p:nvPr/>
        </p:nvSpPr>
        <p:spPr>
          <a:xfrm>
            <a:off x="5086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8FBF8"/>
          </a:solidFill>
          <a:ln w="13335">
            <a:solidFill>
              <a:srgbClr val="C9810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2F24DA-E0B7-4B2D-A004-83888648A029}"/>
              </a:ext>
            </a:extLst>
          </p:cNvPr>
          <p:cNvSpPr>
            <a:spLocks noGrp="1"/>
          </p:cNvSpPr>
          <p:nvPr/>
        </p:nvSpPr>
        <p:spPr>
          <a:xfrm>
            <a:off x="5200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8100"/>
                </a:solidFill>
              </a:defRPr>
            </a:pPr>
            <a:r>
              <a:rPr sz="1125" b="1">
                <a:solidFill>
                  <a:srgbClr val="C98100"/>
                </a:solidFill>
              </a:rPr>
              <a:t>Approval gate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8C6EB-0D0D-48D7-97D9-1110567AD0EA}"/>
              </a:ext>
            </a:extLst>
          </p:cNvPr>
          <p:cNvSpPr>
            <a:spLocks noGrp="1"/>
          </p:cNvSpPr>
          <p:nvPr/>
        </p:nvSpPr>
        <p:spPr>
          <a:xfrm>
            <a:off x="5200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Customer controls external actions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535EB2-EEC5-4A90-995C-C9C5BFF433A8}"/>
              </a:ext>
            </a:extLst>
          </p:cNvPr>
          <p:cNvSpPr>
            <a:spLocks noGrp="1"/>
          </p:cNvSpPr>
          <p:nvPr/>
        </p:nvSpPr>
        <p:spPr>
          <a:xfrm>
            <a:off x="6381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5D1E83-EA86-489C-BE8F-D3D58D51EF35}"/>
              </a:ext>
            </a:extLst>
          </p:cNvPr>
          <p:cNvSpPr>
            <a:spLocks noGrp="1"/>
          </p:cNvSpPr>
          <p:nvPr/>
        </p:nvSpPr>
        <p:spPr>
          <a:xfrm>
            <a:off x="6610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BB30B2-B7AE-4839-884A-B1E6A3190D1B}"/>
              </a:ext>
            </a:extLst>
          </p:cNvPr>
          <p:cNvSpPr>
            <a:spLocks noGrp="1"/>
          </p:cNvSpPr>
          <p:nvPr/>
        </p:nvSpPr>
        <p:spPr>
          <a:xfrm>
            <a:off x="6724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Execute tool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AE256D-7C1D-40A6-A87B-360642336B83}"/>
              </a:ext>
            </a:extLst>
          </p:cNvPr>
          <p:cNvSpPr>
            <a:spLocks noGrp="1"/>
          </p:cNvSpPr>
          <p:nvPr/>
        </p:nvSpPr>
        <p:spPr>
          <a:xfrm>
            <a:off x="6724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Ticket, cleaner, calendar, WhatsApp, email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7D0CAE-24A1-4DF7-A429-D370CB5236E4}"/>
              </a:ext>
            </a:extLst>
          </p:cNvPr>
          <p:cNvSpPr>
            <a:spLocks noGrp="1"/>
          </p:cNvSpPr>
          <p:nvPr/>
        </p:nvSpPr>
        <p:spPr>
          <a:xfrm>
            <a:off x="7905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CDF93A-59EF-4829-BC39-6BEDD6FAF693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8FBF8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5839B3-C4BC-4F10-AAEC-EE305580296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Verify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DD8B5-022A-4B4F-AAD2-49A969859750}"/>
              </a:ext>
            </a:extLst>
          </p:cNvPr>
          <p:cNvSpPr>
            <a:spLocks noGrp="1"/>
          </p:cNvSpPr>
          <p:nvPr/>
        </p:nvSpPr>
        <p:spPr>
          <a:xfrm>
            <a:off x="8248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Track action status and SLA follow-up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F9792E-B8A7-48D2-8A9D-5C9D038C98A7}"/>
              </a:ext>
            </a:extLst>
          </p:cNvPr>
          <p:cNvSpPr>
            <a:spLocks noGrp="1"/>
          </p:cNvSpPr>
          <p:nvPr/>
        </p:nvSpPr>
        <p:spPr>
          <a:xfrm>
            <a:off x="9429750" y="2400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8100"/>
                </a:solidFill>
              </a:defRPr>
            </a:pPr>
            <a:r>
              <a:rPr sz="1950" b="1">
                <a:solidFill>
                  <a:srgbClr val="C98100"/>
                </a:solidFill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8496EBD-CF87-4FC5-A9C4-19D8D4BD2942}"/>
              </a:ext>
            </a:extLst>
          </p:cNvPr>
          <p:cNvSpPr>
            <a:spLocks noGrp="1"/>
          </p:cNvSpPr>
          <p:nvPr/>
        </p:nvSpPr>
        <p:spPr>
          <a:xfrm>
            <a:off x="9658350" y="1943100"/>
            <a:ext cx="12954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3335">
            <a:solidFill>
              <a:srgbClr val="168A5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7850A1-57C3-466D-BFBA-59E965FF17DD}"/>
              </a:ext>
            </a:extLst>
          </p:cNvPr>
          <p:cNvSpPr>
            <a:spLocks noGrp="1"/>
          </p:cNvSpPr>
          <p:nvPr/>
        </p:nvSpPr>
        <p:spPr>
          <a:xfrm>
            <a:off x="9772650" y="20574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sz="1125" b="1">
                <a:solidFill>
                  <a:srgbClr val="168A52"/>
                </a:solidFill>
              </a:rPr>
              <a:t>Learn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5E6977-E0CE-4CBB-80D7-EF7ED33F78C5}"/>
              </a:ext>
            </a:extLst>
          </p:cNvPr>
          <p:cNvSpPr>
            <a:spLocks noGrp="1"/>
          </p:cNvSpPr>
          <p:nvPr/>
        </p:nvSpPr>
        <p:spPr>
          <a:xfrm>
            <a:off x="9772650" y="2324100"/>
            <a:ext cx="1066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Store safe customer preferences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55605E-D3C7-4D78-BC83-D8E7A2382415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lang="en-IN" sz="1950" b="1" dirty="0">
                <a:solidFill>
                  <a:srgbClr val="0B1220"/>
                </a:solidFill>
              </a:rPr>
              <a:t>Note:</a:t>
            </a:r>
            <a:endParaRPr sz="1950" b="1" dirty="0">
              <a:solidFill>
                <a:srgbClr val="0B1220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35F4E7-EE00-410A-A1F5-64748B6D3A5D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382250" cy="1104900"/>
          </a:xfrm>
          <a:prstGeom prst="roundRect">
            <a:avLst>
              <a:gd name="adj" fmla="val 5172"/>
            </a:avLst>
          </a:prstGeom>
          <a:solidFill>
            <a:srgbClr val="ECF7EF"/>
          </a:solidFill>
          <a:ln w="9525">
            <a:solidFill>
              <a:srgbClr val="B8DFC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7562E0-A87E-491C-9665-DEE2F4B90250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969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Solaris exposes the agentic chain for every action: the goal, the selected specialist agents, the approval gate, the tool execution, and the verification/learning outcome.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296FE9-8DCE-4B94-B817-22727274716B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119323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C58BC2A-520C-966A-89C3-D73C1E85C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4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1A668B7-F241-42DE-ACBA-B2382565E1C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BUSINESS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990F55-94C3-4D55-BD73-46CE237C21FB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Solaris scales solar customer operations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6C58EF7-EDA4-4C4A-97E7-C5DE8291129C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9525"/>
          </a:xfrm>
          <a:prstGeom prst="line">
            <a:avLst/>
          </a:prstGeom>
          <a:noFill/>
          <a:ln w="9525">
            <a:solidFill>
              <a:srgbClr val="CCD5C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FB4E7-2CCF-4650-9A4D-69A8DEA6DB6D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76FE81-4887-49BF-8D70-A5CE1887AD2A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23431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8E1D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4E4FA-7466-4222-8ED4-6E9E09AEDD28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68A52"/>
                </a:solidFill>
              </a:defRPr>
            </a:pPr>
            <a:r>
              <a:rPr sz="2025" b="1">
                <a:solidFill>
                  <a:srgbClr val="168A52"/>
                </a:solidFill>
              </a:rPr>
              <a:t>30–50%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761BE-D7B4-4206-ABA1-8B885DDD0948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faster issue detection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BCAEAF-0BC2-4970-B185-908810CAE78F}"/>
              </a:ext>
            </a:extLst>
          </p:cNvPr>
          <p:cNvSpPr>
            <a:spLocks noGrp="1"/>
          </p:cNvSpPr>
          <p:nvPr/>
        </p:nvSpPr>
        <p:spPr>
          <a:xfrm>
            <a:off x="3429000" y="1504950"/>
            <a:ext cx="23431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8E1D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8A2B54-0125-48C6-A99B-4CD7E8A43C00}"/>
              </a:ext>
            </a:extLst>
          </p:cNvPr>
          <p:cNvSpPr>
            <a:spLocks noGrp="1"/>
          </p:cNvSpPr>
          <p:nvPr/>
        </p:nvSpPr>
        <p:spPr>
          <a:xfrm>
            <a:off x="3581400" y="16383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E62A2"/>
                </a:solidFill>
              </a:defRPr>
            </a:pPr>
            <a:r>
              <a:rPr sz="2025" b="1">
                <a:solidFill>
                  <a:srgbClr val="1E62A2"/>
                </a:solidFill>
              </a:rPr>
              <a:t>20–40%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6C731F-5A08-4E96-9DEF-3EDA38DCDC05}"/>
              </a:ext>
            </a:extLst>
          </p:cNvPr>
          <p:cNvSpPr>
            <a:spLocks noGrp="1"/>
          </p:cNvSpPr>
          <p:nvPr/>
        </p:nvSpPr>
        <p:spPr>
          <a:xfrm>
            <a:off x="3581400" y="20193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less manual follow-up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6088DF-C169-4899-9D39-140A7E057B53}"/>
              </a:ext>
            </a:extLst>
          </p:cNvPr>
          <p:cNvSpPr>
            <a:spLocks noGrp="1"/>
          </p:cNvSpPr>
          <p:nvPr/>
        </p:nvSpPr>
        <p:spPr>
          <a:xfrm>
            <a:off x="6210300" y="1504950"/>
            <a:ext cx="23431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8E1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0BFB1-6079-48C0-9ECB-C0E1C7E9EF7F}"/>
              </a:ext>
            </a:extLst>
          </p:cNvPr>
          <p:cNvSpPr>
            <a:spLocks noGrp="1"/>
          </p:cNvSpPr>
          <p:nvPr/>
        </p:nvSpPr>
        <p:spPr>
          <a:xfrm>
            <a:off x="6362700" y="16383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68A52"/>
                </a:solidFill>
              </a:defRPr>
            </a:pPr>
            <a:r>
              <a:rPr sz="2025" b="1">
                <a:solidFill>
                  <a:srgbClr val="168A52"/>
                </a:solidFill>
              </a:rPr>
              <a:t>5–15%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27C84-06C2-47CF-AF2D-185DF9F08DDE}"/>
              </a:ext>
            </a:extLst>
          </p:cNvPr>
          <p:cNvSpPr>
            <a:spLocks noGrp="1"/>
          </p:cNvSpPr>
          <p:nvPr/>
        </p:nvSpPr>
        <p:spPr>
          <a:xfrm>
            <a:off x="6362700" y="20193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higher solar self-consumption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DB3FA3-06D1-4291-A45B-444056176D5B}"/>
              </a:ext>
            </a:extLst>
          </p:cNvPr>
          <p:cNvSpPr>
            <a:spLocks noGrp="1"/>
          </p:cNvSpPr>
          <p:nvPr/>
        </p:nvSpPr>
        <p:spPr>
          <a:xfrm>
            <a:off x="8991600" y="1504950"/>
            <a:ext cx="23431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8E1D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03A07B-679F-479C-B23A-0C167DCF4F18}"/>
              </a:ext>
            </a:extLst>
          </p:cNvPr>
          <p:cNvSpPr>
            <a:spLocks noGrp="1"/>
          </p:cNvSpPr>
          <p:nvPr/>
        </p:nvSpPr>
        <p:spPr>
          <a:xfrm>
            <a:off x="9144000" y="16383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E62A2"/>
                </a:solidFill>
              </a:defRPr>
            </a:pPr>
            <a:r>
              <a:rPr sz="2025" b="1">
                <a:solidFill>
                  <a:srgbClr val="1E62A2"/>
                </a:solidFill>
              </a:rPr>
              <a:t>24/7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503C72-AC21-4905-A0A3-014CC7A23393}"/>
              </a:ext>
            </a:extLst>
          </p:cNvPr>
          <p:cNvSpPr>
            <a:spLocks noGrp="1"/>
          </p:cNvSpPr>
          <p:nvPr/>
        </p:nvSpPr>
        <p:spPr>
          <a:xfrm>
            <a:off x="9144000" y="20193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customer action assistant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74A5D-C314-471F-BA9D-E2558781D70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lang="en-US" sz="1950" b="1" dirty="0">
                <a:solidFill>
                  <a:srgbClr val="0B1220"/>
                </a:solidFill>
              </a:rPr>
              <a:t>C</a:t>
            </a:r>
            <a:r>
              <a:rPr sz="1950" b="1" dirty="0">
                <a:solidFill>
                  <a:srgbClr val="0B1220"/>
                </a:solidFill>
              </a:rPr>
              <a:t>iteria align</a:t>
            </a:r>
            <a:r>
              <a:rPr lang="en-US" sz="1950" b="1" dirty="0">
                <a:solidFill>
                  <a:srgbClr val="0B1220"/>
                </a:solidFill>
              </a:rPr>
              <a:t>ed with Solaris</a:t>
            </a:r>
            <a:endParaRPr sz="1950" b="1" dirty="0">
              <a:solidFill>
                <a:srgbClr val="0B122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5EC47-E5A1-46E7-A476-2916B90D992C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Innovation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E6A725-D724-4FF9-B2F3-5519F9D11673}"/>
              </a:ext>
            </a:extLst>
          </p:cNvPr>
          <p:cNvSpPr>
            <a:spLocks noGrp="1"/>
          </p:cNvSpPr>
          <p:nvPr/>
        </p:nvSpPr>
        <p:spPr>
          <a:xfrm>
            <a:off x="3009900" y="35052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Solar-specific orchestration beyond standard chatbot automation.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F65D89C0-8037-4ABD-A2B0-B60349B5B76C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096500" cy="9525"/>
          </a:xfrm>
          <a:prstGeom prst="line">
            <a:avLst/>
          </a:prstGeom>
          <a:noFill/>
          <a:ln w="9525">
            <a:solidFill>
              <a:srgbClr val="E3E8E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EA7B88-C817-45D9-9EBC-FC5C5C13A306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E62A2"/>
                </a:solidFill>
              </a:defRPr>
            </a:pPr>
            <a:r>
              <a:rPr sz="1350" b="1">
                <a:solidFill>
                  <a:srgbClr val="1E62A2"/>
                </a:solidFill>
              </a:rPr>
              <a:t>Impact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6EB388-A8DE-496F-ACB0-3EF06E401D8B}"/>
              </a:ext>
            </a:extLst>
          </p:cNvPr>
          <p:cNvSpPr>
            <a:spLocks noGrp="1"/>
          </p:cNvSpPr>
          <p:nvPr/>
        </p:nvSpPr>
        <p:spPr>
          <a:xfrm>
            <a:off x="3009900" y="39624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Measures productivity, turnaround time, grid import reduction, customer experience.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D61B0C7-8284-4363-9A5C-BFA8944454C7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096500" cy="9525"/>
          </a:xfrm>
          <a:prstGeom prst="line">
            <a:avLst/>
          </a:prstGeom>
          <a:noFill/>
          <a:ln w="9525">
            <a:solidFill>
              <a:srgbClr val="E3E8E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03583E-7EE1-435A-A920-E76198C5988E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Relevance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C81502-C767-4F89-8EBF-F80661A52B2B}"/>
              </a:ext>
            </a:extLst>
          </p:cNvPr>
          <p:cNvSpPr>
            <a:spLocks noGrp="1"/>
          </p:cNvSpPr>
          <p:nvPr/>
        </p:nvSpPr>
        <p:spPr>
          <a:xfrm>
            <a:off x="3009900" y="44196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Targets a real Energy-sector workflow: solar customer operations and service escalation.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036208C-E6A9-4D84-A5C9-6105001D46BD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096500" cy="9525"/>
          </a:xfrm>
          <a:prstGeom prst="line">
            <a:avLst/>
          </a:prstGeom>
          <a:noFill/>
          <a:ln w="9525">
            <a:solidFill>
              <a:srgbClr val="E3E8E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C54E51-DCA7-45CB-AF50-ACB300F6BDD6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E62A2"/>
                </a:solidFill>
              </a:defRPr>
            </a:pPr>
            <a:r>
              <a:rPr sz="1350" b="1" dirty="0">
                <a:solidFill>
                  <a:srgbClr val="1E62A2"/>
                </a:solidFill>
              </a:rPr>
              <a:t>OpenAI capability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649256-AD7C-4FAA-A96E-F47835B0A243}"/>
              </a:ext>
            </a:extLst>
          </p:cNvPr>
          <p:cNvSpPr>
            <a:spLocks noGrp="1"/>
          </p:cNvSpPr>
          <p:nvPr/>
        </p:nvSpPr>
        <p:spPr>
          <a:xfrm>
            <a:off x="3009900" y="48768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Reasoning, decision support, tool use, workflow orchestration, and natural interaction.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75C160EB-C818-4005-98D8-FBB5E1B3770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096500" cy="9525"/>
          </a:xfrm>
          <a:prstGeom prst="line">
            <a:avLst/>
          </a:prstGeom>
          <a:noFill/>
          <a:ln w="9525">
            <a:solidFill>
              <a:srgbClr val="E3E8E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4D6028-47C0-450C-B987-3A3D55CFE727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Scalability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DA97C6-BCB8-462E-B838-991BCBEDD955}"/>
              </a:ext>
            </a:extLst>
          </p:cNvPr>
          <p:cNvSpPr>
            <a:spLocks noGrp="1"/>
          </p:cNvSpPr>
          <p:nvPr/>
        </p:nvSpPr>
        <p:spPr>
          <a:xfrm>
            <a:off x="3009900" y="53340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Repeatable agent pattern across many customers, sites, teams, and adapters.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E26A7B1A-E0F5-47E5-80DF-80F39596F664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096500" cy="9525"/>
          </a:xfrm>
          <a:prstGeom prst="line">
            <a:avLst/>
          </a:prstGeom>
          <a:noFill/>
          <a:ln w="9525">
            <a:solidFill>
              <a:srgbClr val="E3E8E3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643B3E5-975F-4560-A207-59652BE09AB7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3143250" cy="685800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9525">
            <a:solidFill>
              <a:srgbClr val="B8DFC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61309D-7A19-4877-85B6-6BCC85533938}"/>
              </a:ext>
            </a:extLst>
          </p:cNvPr>
          <p:cNvSpPr>
            <a:spLocks noGrp="1"/>
          </p:cNvSpPr>
          <p:nvPr/>
        </p:nvSpPr>
        <p:spPr>
          <a:xfrm>
            <a:off x="8115300" y="2849819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8A52"/>
                </a:solidFill>
              </a:defRPr>
            </a:pPr>
            <a:r>
              <a:rPr lang="en-US" sz="1125" b="1" dirty="0">
                <a:solidFill>
                  <a:srgbClr val="168A52"/>
                </a:solidFill>
              </a:rPr>
              <a:t>Best part:</a:t>
            </a:r>
            <a:endParaRPr sz="1125" b="1" dirty="0">
              <a:solidFill>
                <a:srgbClr val="168A5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0CFC61-73FA-47DB-B185-D0D1766BD8C5}"/>
              </a:ext>
            </a:extLst>
          </p:cNvPr>
          <p:cNvSpPr>
            <a:spLocks noGrp="1"/>
          </p:cNvSpPr>
          <p:nvPr/>
        </p:nvSpPr>
        <p:spPr>
          <a:xfrm>
            <a:off x="8115300" y="3043084"/>
            <a:ext cx="2724150" cy="444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 dirty="0">
                <a:solidFill>
                  <a:srgbClr val="0B1220"/>
                </a:solidFill>
              </a:rPr>
              <a:t>Solaris is an Agentic AI orchestration layer for solar customer operations.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AF1DD0-FA23-4891-B478-8F506938F898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997542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8048277-D3DC-4C3A-9A94-7D336BA6097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DEMO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E281D8-1B42-4C4A-852E-09044734BC70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lang="en-US" sz="2850" b="1" dirty="0">
                <a:solidFill>
                  <a:srgbClr val="0B1220"/>
                </a:solidFill>
              </a:rPr>
              <a:t>F</a:t>
            </a:r>
            <a:r>
              <a:rPr sz="2850" b="1" dirty="0">
                <a:solidFill>
                  <a:srgbClr val="0B1220"/>
                </a:solidFill>
              </a:rPr>
              <a:t>lows that prove Solaris is agentic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8BFAF0D-1662-4EA4-BAFB-67E3B8718A3D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9525"/>
          </a:xfrm>
          <a:prstGeom prst="line">
            <a:avLst/>
          </a:prstGeom>
          <a:noFill/>
          <a:ln w="9525">
            <a:solidFill>
              <a:srgbClr val="CCD5C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C61FEE-BED4-480E-A4AB-9FA77D1F5D4B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D78359-9605-450D-A4E0-568CB4915856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4953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13D78-86CE-4614-A011-3C79D52280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1. Dashboard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BC812-DF73-4035-A08D-6C59E11EBBD0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4610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Generation vs consumption, grid import/export, appliance tracker, day/week/month/year views.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BA2DA7-E05E-4F21-A3D1-D0414C2D8623}"/>
              </a:ext>
            </a:extLst>
          </p:cNvPr>
          <p:cNvSpPr>
            <a:spLocks noGrp="1"/>
          </p:cNvSpPr>
          <p:nvPr/>
        </p:nvSpPr>
        <p:spPr>
          <a:xfrm>
            <a:off x="6343650" y="1638300"/>
            <a:ext cx="4953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6F113C-58C0-4A85-A438-CDA097F34237}"/>
              </a:ext>
            </a:extLst>
          </p:cNvPr>
          <p:cNvSpPr>
            <a:spLocks noGrp="1"/>
          </p:cNvSpPr>
          <p:nvPr/>
        </p:nvSpPr>
        <p:spPr>
          <a:xfrm>
            <a:off x="6515100" y="17907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2. AI Agents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EF369-B697-4398-8D30-E6C69991B86D}"/>
              </a:ext>
            </a:extLst>
          </p:cNvPr>
          <p:cNvSpPr>
            <a:spLocks noGrp="1"/>
          </p:cNvSpPr>
          <p:nvPr/>
        </p:nvSpPr>
        <p:spPr>
          <a:xfrm>
            <a:off x="6515100" y="2133600"/>
            <a:ext cx="4610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 dirty="0">
                <a:solidFill>
                  <a:srgbClr val="5B6472"/>
                </a:solidFill>
              </a:rPr>
              <a:t>Processing </a:t>
            </a:r>
            <a:r>
              <a:rPr lang="en-US" sz="1275" dirty="0">
                <a:solidFill>
                  <a:srgbClr val="5B6472"/>
                </a:solidFill>
              </a:rPr>
              <a:t>data</a:t>
            </a:r>
            <a:r>
              <a:rPr sz="1275" b="0" dirty="0">
                <a:solidFill>
                  <a:srgbClr val="5B6472"/>
                </a:solidFill>
              </a:rPr>
              <a:t>, top agents, peer benchmark, bill explainer, surplus automation, cleaning ROI.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E0AC9C-432A-4E1E-B5F0-622B0BD1FAB4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953000" cy="142875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9525">
            <a:solidFill>
              <a:srgbClr val="1E62A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FEA38-13BD-4DA0-99E7-AB44BB53A002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62A2"/>
                </a:solidFill>
              </a:defRPr>
            </a:pPr>
            <a:r>
              <a:rPr sz="1800" b="1">
                <a:solidFill>
                  <a:srgbClr val="1E62A2"/>
                </a:solidFill>
              </a:rPr>
              <a:t>3. Mission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701C7B-9B3C-4CAA-84E9-167475BDA761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4610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Approval cards with orchestration path and replay for each ticket/action.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286DB1-2650-4689-B930-01612ED672D8}"/>
              </a:ext>
            </a:extLst>
          </p:cNvPr>
          <p:cNvSpPr>
            <a:spLocks noGrp="1"/>
          </p:cNvSpPr>
          <p:nvPr/>
        </p:nvSpPr>
        <p:spPr>
          <a:xfrm>
            <a:off x="6343650" y="3695700"/>
            <a:ext cx="4953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CD5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DC432-A525-48BE-9259-37AC32222EA0}"/>
              </a:ext>
            </a:extLst>
          </p:cNvPr>
          <p:cNvSpPr>
            <a:spLocks noGrp="1"/>
          </p:cNvSpPr>
          <p:nvPr/>
        </p:nvSpPr>
        <p:spPr>
          <a:xfrm>
            <a:off x="6515100" y="38481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4. Approval example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184ED0-1B8D-4DF6-91C3-85713ED12D1A}"/>
              </a:ext>
            </a:extLst>
          </p:cNvPr>
          <p:cNvSpPr>
            <a:spLocks noGrp="1"/>
          </p:cNvSpPr>
          <p:nvPr/>
        </p:nvSpPr>
        <p:spPr>
          <a:xfrm>
            <a:off x="6515100" y="4191000"/>
            <a:ext cx="4610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 dirty="0">
                <a:solidFill>
                  <a:srgbClr val="5B6472"/>
                </a:solidFill>
              </a:rPr>
              <a:t>Approve underproduction ticket</a:t>
            </a:r>
            <a:r>
              <a:rPr lang="en-US" sz="1275" b="0" dirty="0">
                <a:solidFill>
                  <a:srgbClr val="5B6472"/>
                </a:solidFill>
              </a:rPr>
              <a:t> through WhatsApp or Mission Control</a:t>
            </a:r>
            <a:r>
              <a:rPr sz="1275" b="0" dirty="0">
                <a:solidFill>
                  <a:srgbClr val="5B6472"/>
                </a:solidFill>
              </a:rPr>
              <a:t>; Solaris creates ticket, keeps history, tracks service follow-up.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BB87A49-BD5B-471D-B649-438C94DC723D}"/>
              </a:ext>
            </a:extLst>
          </p:cNvPr>
          <p:cNvSpPr>
            <a:spLocks noGrp="1"/>
          </p:cNvSpPr>
          <p:nvPr/>
        </p:nvSpPr>
        <p:spPr>
          <a:xfrm>
            <a:off x="3171825" y="3238500"/>
            <a:ext cx="5810250" cy="9525"/>
          </a:xfrm>
          <a:prstGeom prst="line">
            <a:avLst/>
          </a:prstGeom>
          <a:noFill/>
          <a:ln w="9525">
            <a:solidFill>
              <a:srgbClr val="CCD5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84DB70-19BD-483B-BA78-2355CD67A263}"/>
              </a:ext>
            </a:extLst>
          </p:cNvPr>
          <p:cNvSpPr>
            <a:spLocks noGrp="1"/>
          </p:cNvSpPr>
          <p:nvPr/>
        </p:nvSpPr>
        <p:spPr>
          <a:xfrm>
            <a:off x="1143000" y="57340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68A52"/>
                </a:solidFill>
              </a:defRPr>
            </a:pPr>
            <a:r>
              <a:rPr sz="1650" b="1" dirty="0">
                <a:solidFill>
                  <a:srgbClr val="168A52"/>
                </a:solidFill>
              </a:rPr>
              <a:t>Mission Control: it is the evidence that Solaris orchestrates specialist agents and tools.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2D4299-E51B-495A-AB2D-901C642DA67A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Solaris Agentic AI | Solar customer operations</a:t>
            </a:r>
          </a:p>
        </p:txBody>
      </p:sp>
    </p:spTree>
    <p:extLst>
      <p:ext uri="{BB962C8B-B14F-4D97-AF65-F5344CB8AC3E}">
        <p14:creationId xmlns:p14="http://schemas.microsoft.com/office/powerpoint/2010/main" val="2086897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3C7ACD-79B7-9CAB-A97F-929F64A2AC53}"/>
              </a:ext>
            </a:extLst>
          </p:cNvPr>
          <p:cNvSpPr>
            <a:spLocks noGrp="1"/>
          </p:cNvSpPr>
          <p:nvPr/>
        </p:nvSpPr>
        <p:spPr>
          <a:xfrm>
            <a:off x="6661354" y="1685003"/>
            <a:ext cx="3810000" cy="2011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4350" b="1">
                <a:solidFill>
                  <a:srgbClr val="0B1220"/>
                </a:solidFill>
              </a:defRPr>
            </a:pPr>
            <a:r>
              <a:rPr lang="en-US" sz="6000" b="1" dirty="0">
                <a:solidFill>
                  <a:srgbClr val="0B1220"/>
                </a:solidFill>
              </a:rPr>
              <a:t>Thank You! </a:t>
            </a:r>
            <a:r>
              <a:rPr lang="en-US" sz="6000" b="1" dirty="0">
                <a:solidFill>
                  <a:srgbClr val="0B1220"/>
                </a:solidFill>
                <a:sym typeface="Wingdings" panose="05000000000000000000" pitchFamily="2" charset="2"/>
              </a:rPr>
              <a:t></a:t>
            </a:r>
            <a:endParaRPr sz="6000" b="1" dirty="0">
              <a:solidFill>
                <a:srgbClr val="0B12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1329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660</Words>
  <Application>Microsoft Office PowerPoint</Application>
  <DocSecurity>0</DocSecurity>
  <PresentationFormat>Widescreen</PresentationFormat>
  <Paragraphs>97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BuxKunal .</cp:lastModifiedBy>
  <cp:revision>1</cp:revision>
  <dcterms:created xsi:type="dcterms:W3CDTF">2026-07-13T07:54:19Z</dcterms:created>
  <dcterms:modified xsi:type="dcterms:W3CDTF">2026-07-13T11:24:45Z</dcterms:modified>
</cp:coreProperties>
</file>