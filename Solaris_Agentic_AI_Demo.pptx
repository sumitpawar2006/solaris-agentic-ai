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46bb4e8214738" /><Relationship Type="http://schemas.openxmlformats.org/officeDocument/2006/relationships/extended-properties" Target="/docProps/app.xml" Id="R16b2e713f8564239" /><Relationship Type="http://schemas.openxmlformats.org/officeDocument/2006/relationships/officeDocument" Target="/ppt/presentation.xml" Id="R1f137f29fc0644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68730f82c14a13"/>
  </p:sldMasterIdLst>
  <p:notesMasterIdLst>
    <p:notesMasterId xmlns:r="http://schemas.openxmlformats.org/officeDocument/2006/relationships" r:id="R70f1d320145c464b"/>
  </p:notesMasterIdLst>
  <p:sldIdLst>
    <p:sldId xmlns:r="http://schemas.openxmlformats.org/officeDocument/2006/relationships" id="256" r:id="Rbada00d8eb6645e5"/>
    <p:sldId xmlns:r="http://schemas.openxmlformats.org/officeDocument/2006/relationships" id="257" r:id="R66fa746f96514bd9"/>
    <p:sldId xmlns:r="http://schemas.openxmlformats.org/officeDocument/2006/relationships" id="258" r:id="Rc923ac57d1e34989"/>
    <p:sldId xmlns:r="http://schemas.openxmlformats.org/officeDocument/2006/relationships" id="259" r:id="Rb159c1b0fd9945a6"/>
    <p:sldId xmlns:r="http://schemas.openxmlformats.org/officeDocument/2006/relationships" id="260" r:id="R1fa985f0bbda485f"/>
    <p:sldId xmlns:r="http://schemas.openxmlformats.org/officeDocument/2006/relationships" id="261" r:id="R729400ef7cca482d"/>
    <p:sldId xmlns:r="http://schemas.openxmlformats.org/officeDocument/2006/relationships" id="262" r:id="R9cf75f6c06204f0a"/>
    <p:sldId xmlns:r="http://schemas.openxmlformats.org/officeDocument/2006/relationships" id="263" r:id="R9de1fd56317246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efedfa37b44967" /><Relationship Type="http://schemas.openxmlformats.org/officeDocument/2006/relationships/slideMaster" Target="/ppt/slideMasters/slideMaster1.xml" Id="R0368730f82c14a13" /><Relationship Type="http://schemas.openxmlformats.org/officeDocument/2006/relationships/notesMaster" Target="/ppt/notesMasters/notesMaster1.xml" Id="R70f1d320145c464b" /><Relationship Type="http://schemas.openxmlformats.org/officeDocument/2006/relationships/presProps" Target="/ppt/presProps.xml" Id="Rc0187c394d3644b1" /><Relationship Type="http://schemas.openxmlformats.org/officeDocument/2006/relationships/tableStyles" Target="/ppt/tableStyles.xml" Id="R7804fde404e5477a" /><Relationship Type="http://schemas.openxmlformats.org/officeDocument/2006/relationships/slide" Target="/ppt/slides/slide1.xml" Id="Rbada00d8eb6645e5" /><Relationship Type="http://schemas.openxmlformats.org/officeDocument/2006/relationships/slide" Target="/ppt/slides/slide2.xml" Id="R66fa746f96514bd9" /><Relationship Type="http://schemas.openxmlformats.org/officeDocument/2006/relationships/slide" Target="/ppt/slides/slide3.xml" Id="Rc923ac57d1e34989" /><Relationship Type="http://schemas.openxmlformats.org/officeDocument/2006/relationships/slide" Target="/ppt/slides/slide4.xml" Id="Rb159c1b0fd9945a6" /><Relationship Type="http://schemas.openxmlformats.org/officeDocument/2006/relationships/slide" Target="/ppt/slides/slide5.xml" Id="R1fa985f0bbda485f" /><Relationship Type="http://schemas.openxmlformats.org/officeDocument/2006/relationships/slide" Target="/ppt/slides/slide6.xml" Id="R729400ef7cca482d" /><Relationship Type="http://schemas.openxmlformats.org/officeDocument/2006/relationships/slide" Target="/ppt/slides/slide7.xml" Id="R9cf75f6c06204f0a" /><Relationship Type="http://schemas.openxmlformats.org/officeDocument/2006/relationships/slide" Target="/ppt/slides/slide8.xml" Id="R9de1fd56317246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fe25a365942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0176e016884281" /><Relationship Type="http://schemas.openxmlformats.org/officeDocument/2006/relationships/notesMaster" Target="/ppt/notesMasters/notesMaster1.xml" Id="R7897ea6ecb8b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426e2dcfc4773" /><Relationship Type="http://schemas.openxmlformats.org/officeDocument/2006/relationships/notesMaster" Target="/ppt/notesMasters/notesMaster1.xml" Id="R5a4517036670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30288cb6ca4369" /><Relationship Type="http://schemas.openxmlformats.org/officeDocument/2006/relationships/notesMaster" Target="/ppt/notesMasters/notesMaster1.xml" Id="R8ca721c2fa8e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7ffc9cce71456d" /><Relationship Type="http://schemas.openxmlformats.org/officeDocument/2006/relationships/notesMaster" Target="/ppt/notesMasters/notesMaster1.xml" Id="Rf423292f29ce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c920d42b7e4721" /><Relationship Type="http://schemas.openxmlformats.org/officeDocument/2006/relationships/notesMaster" Target="/ppt/notesMasters/notesMaster1.xml" Id="Ra15c8f143d3740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596d173bb24ca7" /><Relationship Type="http://schemas.openxmlformats.org/officeDocument/2006/relationships/notesMaster" Target="/ppt/notesMasters/notesMaster1.xml" Id="Rc027172d147146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b9bd8160964960" /><Relationship Type="http://schemas.openxmlformats.org/officeDocument/2006/relationships/notesMaster" Target="/ppt/notesMasters/notesMaster1.xml" Id="R35c846f539bc45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ae154e629a4566" /><Relationship Type="http://schemas.openxmlformats.org/officeDocument/2006/relationships/notesMaster" Target="/ppt/notesMasters/notesMaster1.xml" Id="R33f2276ebe794f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Open: Solaris is not only a chatbot. It is a solar operating assistant for customers who already own solar.</a:t>
            </a:r>
          </a:p>
          <a:p xmlns:a="http://schemas.openxmlformats.org/drawingml/2006/main">
            <a:r>
              <a:t>The demo goal is to show agentic behavior: it observes live data, reasons about what matters, asks approval where needed, acts through tools, verifies, and remembers preferences.</a:t>
            </a:r>
          </a:p>
          <a:p xmlns:a="http://schemas.openxmlformats.org/drawingml/2006/main">
            <a:r>
              <a:t>Transition: start with the customer problem Solaris solves.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solar users already have hardware and bills, but they often do not get timely action.</a:t>
            </a:r>
          </a:p>
          <a:p xmlns:a="http://schemas.openxmlformats.org/drawingml/2006/main">
            <a:r>
              <a:t>Solaris brings monitoring, usage advice, cleaning, ticketing, WhatsApp/email, and calendar planning into one assistant.</a:t>
            </a:r>
          </a:p>
          <a:p xmlns:a="http://schemas.openxmlformats.org/drawingml/2006/main">
            <a:r>
              <a:t>Transition: here is what Solaris 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dashboard: top metrics, generation and consumption chart, appliances, cleaning, maintenance, and AI Agents.</a:t>
            </a:r>
          </a:p>
          <a:p xmlns:a="http://schemas.openxmlformats.org/drawingml/2006/main">
            <a:r>
              <a:t>Mention the landing chat OTP path: users can unlock full agent chat without entering the dashboard, while dashboard access remains username/password protected.</a:t>
            </a:r>
          </a:p>
          <a:p xmlns:a="http://schemas.openxmlformats.org/drawingml/2006/main">
            <a:r>
              <a:t>Transition: explain the architecture behind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in four parts: data layer, agent brain, safety gates, and tool layer.</a:t>
            </a:r>
          </a:p>
          <a:p xmlns:a="http://schemas.openxmlformats.org/drawingml/2006/main">
            <a:r>
              <a:t>Important: Solaris is agentic because it does not only answer. It can decide when an action is useful, call a tool, verify the result, and remember safe preferences.</a:t>
            </a:r>
          </a:p>
          <a:p xmlns:a="http://schemas.openxmlformats.org/drawingml/2006/main">
            <a:r>
              <a:t>For sensitive operations like tickets and external actions, it asks for approval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live demo, go to AI Agents, then Mission Control, and click Show Agentic Replay.</a:t>
            </a:r>
          </a:p>
          <a:p xmlns:a="http://schemas.openxmlformats.org/drawingml/2006/main">
            <a:r>
              <a:t>The key is to narrate the loop: observe, reason, ask approval, act, verify, learn.</a:t>
            </a:r>
          </a:p>
          <a:p xmlns:a="http://schemas.openxmlformats.org/drawingml/2006/main">
            <a:r>
              <a:t>Do not present it as a scripted screen. Present it as a transparent decision trace that customers can trust.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Highlight the top four agents first because they are most solar-specific and impressive: bill explainer, surplus automation, cleaning ROI, and diagnosis.</a:t>
            </a:r>
          </a:p>
          <a:p xmlns:a="http://schemas.openxmlformats.org/drawingml/2006/main">
            <a:r>
              <a:t>Then mention appliance intelligence and notifications as the execution support around those agents.</a:t>
            </a:r>
          </a:p>
          <a:p xmlns:a="http://schemas.openxmlformats.org/drawingml/2006/main">
            <a:r>
              <a:t>Transition: convert features into user benefits.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customer value in plain language: better savings, fewer surprises, easier maintenance, and faster service escalation.</a:t>
            </a:r>
          </a:p>
          <a:p xmlns:a="http://schemas.openxmlformats.org/drawingml/2006/main">
            <a:r>
              <a:t>Emphasize safety: Solaris respects login, OTP, opt-ins, quiet hours, and approval gates.</a:t>
            </a:r>
          </a:p>
          <a:p xmlns:a="http://schemas.openxmlformats.org/drawingml/2006/main">
            <a:r>
              <a:t>Transition to the closing message: why this is agentic AI, not a standard dashboard.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core claim: Solaris turns solar data into safe, explainable action.</a:t>
            </a:r>
          </a:p>
          <a:p xmlns:a="http://schemas.openxmlformats.org/drawingml/2006/main">
            <a:r>
              <a:t>Suggested final words: This is not just a chatbot and not just a dashboard. It is an agentic solar assistant that observes, reasons, asks approval, acts through tools, verifies, and learns for the next decision.</a:t>
            </a:r>
          </a:p>
          <a:p xmlns:a="http://schemas.openxmlformats.org/drawingml/2006/main">
            <a:r>
              <a:t>Leave Mission Control or Agentic Replay visible for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88919da0244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e647956d74813" /><Relationship Type="http://schemas.openxmlformats.org/officeDocument/2006/relationships/slideLayout" Target="/ppt/slideLayouts/slideLayout1.xml" Id="R90eabab2643a47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eabab2643a47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65eded7c2437b" /><Relationship Type="http://schemas.openxmlformats.org/officeDocument/2006/relationships/notesSlide" Target="/ppt/notesSlides/notesSlide1.xml" Id="R72a3a19b9954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f4ca95d764155" /><Relationship Type="http://schemas.openxmlformats.org/officeDocument/2006/relationships/notesSlide" Target="/ppt/notesSlides/notesSlide2.xml" Id="R9618b3071c5b4f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9f07c10d04235" /><Relationship Type="http://schemas.openxmlformats.org/officeDocument/2006/relationships/notesSlide" Target="/ppt/notesSlides/notesSlide3.xml" Id="Rf27a232ae355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1d0fa40004244" /><Relationship Type="http://schemas.openxmlformats.org/officeDocument/2006/relationships/notesSlide" Target="/ppt/notesSlides/notesSlide4.xml" Id="R0bb029b3810246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334d59a5f41ea" /><Relationship Type="http://schemas.openxmlformats.org/officeDocument/2006/relationships/notesSlide" Target="/ppt/notesSlides/notesSlide5.xml" Id="Rf21c48cfd40644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7873ee587433e" /><Relationship Type="http://schemas.openxmlformats.org/officeDocument/2006/relationships/notesSlide" Target="/ppt/notesSlides/notesSlide6.xml" Id="R7469eb401dc0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2d14ebcdb4b0a" /><Relationship Type="http://schemas.openxmlformats.org/officeDocument/2006/relationships/notesSlide" Target="/ppt/notesSlides/notesSlide7.xml" Id="R0f52a43919274d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83f7d7d674b0c" /><Relationship Type="http://schemas.openxmlformats.org/officeDocument/2006/relationships/notesSlide" Target="/ppt/notesSlides/notesSlide8.xml" Id="R7157b43df9624e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302C04-78B3-42BE-8831-CC4DBFBF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8A52"/>
                </a:solidFill>
              </a:defRPr>
            </a:pPr>
            <a:r>
              <a:rPr sz="4350" b="1">
                <a:solidFill>
                  <a:srgbClr val="168A52"/>
                </a:solidFill>
              </a:rPr>
              <a:t>Solaris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C8A09-6949-4164-980B-CCC148E8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418"/>
                </a:solidFill>
              </a:defRPr>
            </a:pPr>
            <a:r>
              <a:rPr sz="2100" b="0">
                <a:solidFill>
                  <a:srgbClr val="101418"/>
                </a:solidFill>
              </a:rPr>
              <a:t>Agentic AI Solar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2B28C-4473-44DA-8D34-CD27D020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670"/>
                </a:solidFill>
              </a:defRPr>
            </a:pPr>
            <a:r>
              <a:rPr sz="2100" b="0">
                <a:solidFill>
                  <a:srgbClr val="5B6670"/>
                </a:solidFill>
              </a:rPr>
              <a:t>A customer-facing solar agent that monitors, reasons, asks approval, acts through tools, and verifies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EA23A-5A0F-4CE1-BB4C-4A1CCD6E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04850"/>
            <a:ext cx="3143250" cy="4476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B8DF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2FCCC-52A8-449A-A407-A332649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66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A52"/>
                </a:solidFill>
              </a:defRPr>
            </a:pPr>
            <a:r>
              <a:rPr sz="2100" b="1">
                <a:solidFill>
                  <a:srgbClr val="168A52"/>
                </a:solidFill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3266D-1C0C-4CBD-B1FF-0A992CB7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Reason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CF9F7-60E0-4D71-B984-73C751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47A11"/>
                </a:solidFill>
              </a:defRPr>
            </a:pPr>
            <a:r>
              <a:rPr sz="2100" b="1">
                <a:solidFill>
                  <a:srgbClr val="C47A11"/>
                </a:solidFill>
              </a:rPr>
              <a:t>Approve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B098B-DE0B-4450-89AB-C7F6248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A52"/>
                </a:solidFill>
              </a:defRPr>
            </a:pPr>
            <a:r>
              <a:rPr sz="2100" b="1">
                <a:solidFill>
                  <a:srgbClr val="168A52"/>
                </a:solidFill>
              </a:rPr>
              <a:t>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9E886-3200-4697-974F-BABEE4A9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</a:defRPr>
            </a:pPr>
            <a:r>
              <a:rPr sz="2100" b="1">
                <a:solidFill>
                  <a:srgbClr val="101418"/>
                </a:solidFill>
              </a:rPr>
              <a:t>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B31C8-83AD-4843-A9B9-BD4E2A6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8A52"/>
                </a:solidFill>
              </a:defRPr>
            </a:pPr>
            <a:r>
              <a:rPr sz="1350" b="1">
                <a:solidFill>
                  <a:srgbClr val="168A52"/>
                </a:solidFill>
              </a:rPr>
              <a:t>4-minute demo narrative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F3123-DDEA-4723-B327-07C88B8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</a:defRPr>
            </a:pPr>
            <a:r>
              <a:rPr sz="1500" b="0">
                <a:solidFill>
                  <a:srgbClr val="5B6670"/>
                </a:solidFill>
              </a:rPr>
              <a:t>Dashboard + chat + mission control + notifications + calendar + tickets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1A007-E50D-42FC-9679-4AFE4F80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01AB5-4D6E-4DC3-A1F6-8C78841A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53731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05BAAB-98BF-4D39-8D10-3B8685EC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CUSTOMER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7689D-04C9-4A87-8A75-AD923DB9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Solar users need actions, not just readings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166ED-4A0B-4437-A34C-85A55897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Generation, appliance usage, cleaning, tickets, and alerts are usually scattered across apps and manual follow-ups.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921FC-3061-4A36-A4D6-8E2E567A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424A5-F9AC-4C69-B092-AB3D1CA0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34111-043F-42C6-8EC3-67FBFFB9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403A"/>
                </a:solidFill>
              </a:defRPr>
            </a:pPr>
            <a:r>
              <a:rPr sz="1950" b="1">
                <a:solidFill>
                  <a:srgbClr val="B6403A"/>
                </a:solidFill>
              </a:rPr>
              <a:t>Production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85C58-3533-4787-B8F7-13B2D10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Users see low output late, after savings are already lost.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66666-1F00-493C-8384-1B675D49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B263E-306E-42B4-AFAB-C6DE7BBC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Appliance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E7CF2-76B5-40AC-A123-C0B47A2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6235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NILM estimates and smart plugs need one customer-friendly 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70571-331A-4576-B671-83BF284E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0B4DB-814D-4A94-87C0-FB0405C3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956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Cleaning timing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C7DB3-5EA1-401A-BA26-BFF5DD28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6235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Cleaning should depend on dust, rain, water, and production loss.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76250-D8A5-4A9F-8C64-0F7DB645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324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64B5F-DD6D-4575-9E64-5AE8369B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418"/>
                </a:solidFill>
              </a:defRPr>
            </a:pPr>
            <a:r>
              <a:rPr sz="1950" b="1">
                <a:solidFill>
                  <a:srgbClr val="101418"/>
                </a:solidFill>
              </a:rPr>
              <a:t>Service follow-up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5BC56-FE37-48A1-A9AE-98808CF9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Ticket creation and reminders are repetitive and easy to miss.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19B11-CAF7-4D60-9F1C-54A58EBC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A52"/>
                </a:solidFill>
              </a:defRPr>
            </a:pPr>
            <a:r>
              <a:rPr sz="2100" b="1">
                <a:solidFill>
                  <a:srgbClr val="168A52"/>
                </a:solidFill>
              </a:rPr>
              <a:t>Solaris turns these disconnected signals into customer-safe actions.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E9648-CD8A-45CB-986A-F11AFA67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7089B-E377-4739-A5D1-9D831D7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148628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3E844-E4D6-4716-8BB6-9216040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PRODUCT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A9EC5-A2B4-439F-B5AD-D980BFDD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Solaris is a mission control layer for solar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CDBED-4B6D-4C3D-986D-9CCB3D0D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It combines a dashboard, floating agent chat, on-demand actions, approval center, and notification channels.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C8AFE-92AC-4516-9612-F22F9CF4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75BA0-0A4A-4A57-A708-2040783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66FE5-2457-4EC8-80CC-6DFFE6A3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SOLAR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0320B-2DD2-4749-BDBA-4489F2FC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A52"/>
                </a:solidFill>
              </a:defRPr>
            </a:pPr>
            <a:r>
              <a:rPr sz="2400" b="1">
                <a:solidFill>
                  <a:srgbClr val="168A52"/>
                </a:solidFill>
              </a:rPr>
              <a:t>5.8 kW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17DF9-B222-4C1D-B3F1-F59554A7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49692-A33E-4FC5-9E13-B1EC3E4B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62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CURRENT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E82BA-1026-489E-8E18-F4B3767F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384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76D2"/>
                </a:solidFill>
              </a:defRPr>
            </a:pPr>
            <a:r>
              <a:rPr sz="2400" b="1">
                <a:solidFill>
                  <a:srgbClr val="1976D2"/>
                </a:solidFill>
              </a:rPr>
              <a:t>3.4 kW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58C75-FA68-4EF6-A965-B08B456A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206B2-22F3-4D4F-8D0D-5FEEE887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SELF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9C509-6A92-4C09-8B75-8572E56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384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8A52"/>
                </a:solidFill>
              </a:defRPr>
            </a:pPr>
            <a:r>
              <a:rPr sz="2400" b="1">
                <a:solidFill>
                  <a:srgbClr val="168A52"/>
                </a:solidFill>
              </a:rPr>
              <a:t>72%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650A7-FD73-4B52-B44C-89530004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381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92CBA-2B6F-4A1A-836B-12FC6E44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454FF-A434-4B16-BE21-1D91F17E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38475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47A11"/>
                </a:solidFill>
              </a:defRPr>
            </a:pPr>
            <a:r>
              <a:rPr sz="2400" b="1">
                <a:solidFill>
                  <a:srgbClr val="C47A11"/>
                </a:solidFill>
              </a:rPr>
              <a:t>92%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0B796-B6D5-4234-B6A7-64EBF1DC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3251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FB3F1-84B1-4C2A-A259-39ED7C35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Dashboard explains generation vs consumption across day, week, month, and year.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Agent chat performs authenticated actions such as adding appliances, scheduling cleaning, and raising tickets.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Mission Control shows why Solaris decided, what tool it used, and what it learned.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3D7EE-EF4A-4F36-A4DD-0978181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2A118B-A2FB-4C37-B07A-02E773F2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6886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1DCBB8-394A-4B38-A479-BBA32D55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AGENTIC AI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E58EA-51EB-4A81-AF13-A8D953A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Solaris separates intelligence, tools, safety, and channels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63667-5F91-4F93-AEDA-5C3DF21C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This makes the assistant useful with current app data and ready for real inverter, meter, weather, and service integrations.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8F063-F116-4734-9927-683D5965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3CFF7-C32C-4C73-B62D-C3A9BB01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976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63092-5FA7-47C8-846B-731F669F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Data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F2903-23CE-4C76-8C77-8D9E1B6B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Inverter, meter, NILM, smart plugs, weather, tariff, customer profile.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4ECCC-26FF-4DA8-8C6B-B395825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A89D6-FD15-4015-9CB6-4C44CED1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Agent 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D7AC9-EF81-4259-A819-C62A8BCD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Solar monitoring, surplus automation, bill explainer, cleaning ROI, diagnosis.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FF133-E01A-42EC-A876-4AAE68D7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7A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5D20FB-671E-4ED7-8215-C8C21DC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A11"/>
                </a:solidFill>
              </a:defRPr>
            </a:pPr>
            <a:r>
              <a:rPr sz="1800" b="1">
                <a:solidFill>
                  <a:srgbClr val="C47A11"/>
                </a:solidFill>
              </a:rPr>
              <a:t>Safety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5551C-17A6-4AC8-B946-19119060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Authentication, opt-ins, quiet hours, approval before external actions.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39D2E-DC71-4BA1-A54B-70D4F79A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2438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14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7DD36-7CD5-4F2E-AE8C-48A10C5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</a:defRPr>
            </a:pPr>
            <a:r>
              <a:rPr sz="1800" b="1">
                <a:solidFill>
                  <a:srgbClr val="101418"/>
                </a:solidFill>
              </a:rPr>
              <a:t>Tool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32EFA-DA4D-43B7-A53D-03AE1276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623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Email, WhatsApp, calendar links, cleaner commands, ticket creation.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8EE42-D93A-4DCD-90A2-FDF1B26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78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B8DF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5CDC9-C790-49C3-B32B-655F2E3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A52"/>
                </a:solidFill>
              </a:defRPr>
            </a:pPr>
            <a:r>
              <a:rPr sz="1950" b="1">
                <a:solidFill>
                  <a:srgbClr val="168A52"/>
                </a:solidFill>
              </a:rPr>
              <a:t>Agent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72DB1-3729-4A06-8CF1-E9F10165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52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8"/>
                </a:solidFill>
              </a:defRPr>
            </a:pPr>
            <a:r>
              <a:rPr sz="2250" b="1">
                <a:solidFill>
                  <a:srgbClr val="101418"/>
                </a:solidFill>
              </a:rPr>
              <a:t>Observe -&gt; Reason -&gt; Ask Approval -&gt; Act -&gt; Verify -&gt; Learn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EC4EA-BFA9-4B27-B8F7-FAB792F8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A73B3-1CAA-43D1-AE01-1778C62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06923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02820-2921-4C3A-A4C6-961271DD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25E8D-ABB6-4C4B-92C0-54971F3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The strongest demo is a visible decision replay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30CBB-8849-4AFA-A4C4-AC40CD10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Start with live dashboard evidence, then show the agent making a safe, explainable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7A84C-414A-43A7-98BF-5AEE78FA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47893-0F33-42BB-B9E2-32B87A0E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74BBA-BEA2-4DFF-B08F-1A7CD0D8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1. 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769F2-E3DB-45D7-A6AA-F4B6DC7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Solar now, load, expected generation, appliance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DCFE1-6CEE-4BE5-B0DC-38FA884E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CCE97-DEC2-4DD3-ABA1-A7E019B7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2. Reason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094E8-B782-4FB5-9083-B8787E4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86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EV charging beats geyser during 12 PM - 3 PM surplus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2455F-DEAE-46EF-BFD1-B7789FA5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47A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8BF16-99B0-4B2B-99BF-7EE8CD88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7A11"/>
                </a:solidFill>
              </a:defRPr>
            </a:pPr>
            <a:r>
              <a:rPr sz="1800" b="1">
                <a:solidFill>
                  <a:srgbClr val="C47A11"/>
                </a:solidFill>
              </a:rPr>
              <a:t>3. 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953C4-AF48-4347-9B42-F7DCD949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Approval gate before ticket or calendar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5330F-AE26-4964-AA84-FAE2CFF1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A31A6-9309-4719-B386-84D68E76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4. 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E6845-7943-4600-8132-670C977C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Create reminder, send report, prepare ticket, update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3C103-8B10-49FE-9B61-DE1788AC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43AD9-EB8B-42AF-8CCA-278FC275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1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5. 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7282C-92BC-410C-B653-D6D98EAD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72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Show status, event log, result link, ticket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A6D86-7977-4F6B-BD2F-94476CE1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57650"/>
            <a:ext cx="3124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6F2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DBC0D-35DE-4169-9B95-C2B150A7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10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6. 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4F376-141C-4246-B8CA-7ECAEDE7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0"/>
                </a:solidFill>
              </a:defRPr>
            </a:pPr>
            <a:r>
              <a:rPr sz="1350" b="0">
                <a:solidFill>
                  <a:srgbClr val="5B6670"/>
                </a:solidFill>
              </a:rPr>
              <a:t>Store preference for future surplus automation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ABF50-028F-4691-A1F3-96F3579F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82DF4-A9CD-43B7-8C1C-44CA5B88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22811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DCF89-0B78-4592-A603-3EB97E6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AGENT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48547-2724-4D00-84F6-D6C67823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Solaris uses specialized agents for solar-specific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531A8-025A-4FB6-8E35-C73FF6B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Each agent has a clear customer job and can surface evidence before taking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577CF-46F2-4E63-AEB7-181175BB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EBA71-B3F2-4481-835F-7F7B5262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87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36171-7965-402C-834A-837A993E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52"/>
                </a:solidFill>
              </a:defRPr>
            </a:pPr>
            <a:r>
              <a:rPr sz="1725" b="1">
                <a:solidFill>
                  <a:srgbClr val="168A52"/>
                </a:solidFill>
              </a:rPr>
              <a:t>Solar Bill Explainer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33A44-52E4-4A6D-92ED-4C46CE02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Explains bill impact, savings, import/export, and usage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0ED3C-38AD-470F-B9C3-9FDE54C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487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E3E59-D8F7-48F3-9CC6-211C1085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52"/>
                </a:solidFill>
              </a:defRPr>
            </a:pPr>
            <a:r>
              <a:rPr sz="1725" b="1">
                <a:solidFill>
                  <a:srgbClr val="168A52"/>
                </a:solidFill>
              </a:rPr>
              <a:t>Solar Surplus Automation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EA273-134E-41C5-85EF-33AE1EC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Finds 12 PM - 3 PM surplus and recommends EV or flexible loads.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31C90-3D68-4696-8C7C-68226BB0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487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D4E5B-AB3A-4F81-9EFB-3EB7D3FA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52"/>
                </a:solidFill>
              </a:defRPr>
            </a:pPr>
            <a:r>
              <a:rPr sz="1725" b="1">
                <a:solidFill>
                  <a:srgbClr val="168A52"/>
                </a:solidFill>
              </a:rPr>
              <a:t>Cleaning ROI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04CF9-BF79-4236-A223-37203463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Compares production loss, dust/rain signals, and cleaning value.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909B0-3932-4AF2-A8A4-1A435E3A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05200"/>
            <a:ext cx="487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E1F93-0B46-4FDD-9068-D077319F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8A52"/>
                </a:solidFill>
              </a:defRPr>
            </a:pPr>
            <a:r>
              <a:rPr sz="1725" b="1">
                <a:solidFill>
                  <a:srgbClr val="168A52"/>
                </a:solidFill>
              </a:rPr>
              <a:t>Underperformance Diagnosis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1B71C4-6204-4E3C-97DC-93FB4949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Detects low production and prepares evidence-backed ticket escalation.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D3638-E5A8-4B78-8B6C-875CB0F1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87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273F6-6377-445A-96D1-A949B50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Hybrid Appliance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EEB94F-1F1F-40A3-A0D7-31F1AD6C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Combines NILM estimates with smart plug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A741A-E537-4A77-9EBF-E576037F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29150"/>
            <a:ext cx="4876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24E3A-5EE0-4C42-93E1-41E70341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</a:defRPr>
            </a:pPr>
            <a:r>
              <a:rPr sz="1725" b="1">
                <a:solidFill>
                  <a:srgbClr val="101418"/>
                </a:solidFill>
              </a:rPr>
              <a:t>Notification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601EF-97D0-4D88-B314-96A3133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</a:defRPr>
            </a:pPr>
            <a:r>
              <a:rPr sz="1200" b="0">
                <a:solidFill>
                  <a:srgbClr val="5B6670"/>
                </a:solidFill>
              </a:rPr>
              <a:t>Routes reports and approvals through opted-in Email or WhatsApp.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7D53A4-111A-4AD5-B10A-DD880A82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BE9B0-EE14-43AA-AB89-0A52B74C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7795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114E11-1802-4204-A5BE-B4726DB2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CUSTOMER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7C761-2830-400B-B518-A7D101D2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Solaris makes solar ownership easier and more profitable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AEDCF-1DFB-42CD-833E-1969948D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The assistant gives timely actions while keeping the customer in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1C090-877A-46E8-8C9A-B1695D9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D7778-8883-4C19-A78E-5A9B543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8387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B8DF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57CD5-375F-4807-A961-20D3F392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A52"/>
                </a:solidFill>
              </a:defRPr>
            </a:pPr>
            <a:r>
              <a:rPr sz="2100" b="1">
                <a:solidFill>
                  <a:srgbClr val="168A52"/>
                </a:solidFill>
              </a:rPr>
              <a:t>For the 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33EC9-B42E-405D-AF78-4DAAA092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Know when to use appliances from solar generation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Reduce night usage and grid import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Get WhatsApp or email reports on request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See cleaning and maintenance status clearly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AB36E-7379-4F67-ADD9-445165FF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572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F9C56-C9B7-4608-A513-FDCC703A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003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76D2"/>
                </a:solidFill>
              </a:defRPr>
            </a:pPr>
            <a:r>
              <a:rPr sz="2100" b="1">
                <a:solidFill>
                  <a:srgbClr val="1976D2"/>
                </a:solidFill>
              </a:rPr>
              <a:t>For service reliability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FEA18-FCE3-4A09-AE86-87BAEA98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361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Detect underproduction early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Create tickets with evidence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Avoid duplicate open tickets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Track status and reminders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C2C85-C089-4F34-9404-EACD3250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3B8AB-0238-41D1-A60A-FABD340C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51448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1C2FD-30EA-4AC6-95E5-C51EED2E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WHY SOLARIS STANDS 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170AF-E830-4672-AACB-E8C0A54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71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</a:defRPr>
            </a:pPr>
            <a:r>
              <a:rPr sz="3150" b="1">
                <a:solidFill>
                  <a:srgbClr val="101418"/>
                </a:solidFill>
              </a:rPr>
              <a:t>It turns solar data into safe, explainable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B53BF-4F53-46A9-ACDB-DE793624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</a:defRPr>
            </a:pPr>
            <a:r>
              <a:rPr sz="1575" b="0">
                <a:solidFill>
                  <a:srgbClr val="5B6670"/>
                </a:solidFill>
              </a:rPr>
              <a:t>The live walkthrough should show the agentic loop on screen, not only the chatbot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97594-D18B-495F-A2CA-6F034266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DD"/>
          </a:solidFill>
          <a:ln xmlns:a="http://schemas.openxmlformats.org/drawingml/2006/main" w="0">
            <a:solidFill>
              <a:srgbClr val="CB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8AA5F-06B5-4147-A1C3-98864DF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8A52"/>
                </a:solidFill>
              </a:defRPr>
            </a:pPr>
            <a:r>
              <a:rPr sz="2250" b="1">
                <a:solidFill>
                  <a:srgbClr val="168A52"/>
                </a:solidFill>
              </a:rPr>
              <a:t>What to show 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F379C-D649-47ED-8ADB-D69347A7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4572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Dashboard chart: generation vs consumption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AI Agents: top solar-specific agents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Mission Control: Show Agentic Replay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Approval Center: customer-safe external actions</a:t>
            </a:r>
          </a:p>
          <a:p xmlns:a="http://schemas.openxmlformats.org/drawingml/2006/main">
            <a:pPr algn="l">
              <a:defRPr sz="1575" b="0">
                <a:solidFill>
                  <a:srgbClr val="101418"/>
                </a:solidFill>
              </a:defRPr>
            </a:pPr>
            <a:r>
              <a:rPr sz="1575" b="0">
                <a:solidFill>
                  <a:srgbClr val="101418"/>
                </a:solidFill>
              </a:rPr>
              <a:t>• Email/WhatsApp/calendar/ticket tool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9E51D-6587-4091-888A-F77DBBF7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0957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9525">
            <a:solidFill>
              <a:srgbClr val="B8DF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770E1-4872-47A3-9382-0FD97D43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A52"/>
                </a:solidFill>
              </a:defRPr>
            </a:pPr>
            <a:r>
              <a:rPr sz="1800" b="1">
                <a:solidFill>
                  <a:srgbClr val="168A52"/>
                </a:solidFill>
              </a:rPr>
              <a:t>Closing 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56139-F8A6-4504-A478-8D0411CD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90900"/>
            <a:ext cx="3295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</a:defRPr>
            </a:pPr>
            <a:r>
              <a:rPr sz="1500" b="0">
                <a:solidFill>
                  <a:srgbClr val="101418"/>
                </a:solidFill>
              </a:rPr>
              <a:t>Solaris is a customer-facing solar agent that observes, reasons, acts safely, verifies outcomes, and learns for the next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E80D7-2C3F-4A3B-A40C-4D4A042B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9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End with the live replay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F5C51-93CC-422C-8542-095B24AA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</a:defRPr>
            </a:pPr>
            <a:r>
              <a:rPr sz="1050" b="0">
                <a:solidFill>
                  <a:srgbClr val="5B6670"/>
                </a:solidFill>
              </a:rPr>
              <a:t>Solaris Agentic AI Solar Assistant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1EC79-DA84-49CD-851D-6C3F754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6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0"/>
                </a:solidFill>
              </a:defRPr>
            </a:pPr>
            <a:r>
              <a:rPr sz="1050" b="1">
                <a:solidFill>
                  <a:srgbClr val="5B66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27758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2026-07-12T17:17:17.2660000Z</dcterms:created>
  <dcterms:modified xsi:type="dcterms:W3CDTF">2026-07-12T17:17:17.2660000Z</dcterms:modified>
</coreProperties>
</file>